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8" r:id="rId2"/>
  </p:sldMasterIdLst>
  <p:notesMasterIdLst>
    <p:notesMasterId r:id="rId62"/>
  </p:notesMasterIdLst>
  <p:sldIdLst>
    <p:sldId id="260" r:id="rId3"/>
    <p:sldId id="257" r:id="rId4"/>
    <p:sldId id="261" r:id="rId5"/>
    <p:sldId id="262" r:id="rId6"/>
    <p:sldId id="275" r:id="rId7"/>
    <p:sldId id="283" r:id="rId8"/>
    <p:sldId id="284" r:id="rId9"/>
    <p:sldId id="285" r:id="rId10"/>
    <p:sldId id="286" r:id="rId11"/>
    <p:sldId id="287" r:id="rId12"/>
    <p:sldId id="288" r:id="rId13"/>
    <p:sldId id="289" r:id="rId14"/>
    <p:sldId id="290" r:id="rId15"/>
    <p:sldId id="291" r:id="rId16"/>
    <p:sldId id="293" r:id="rId17"/>
    <p:sldId id="292"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9" r:id="rId38"/>
    <p:sldId id="313" r:id="rId39"/>
    <p:sldId id="314" r:id="rId40"/>
    <p:sldId id="315" r:id="rId41"/>
    <p:sldId id="316" r:id="rId42"/>
    <p:sldId id="317" r:id="rId43"/>
    <p:sldId id="318" r:id="rId44"/>
    <p:sldId id="327" r:id="rId45"/>
    <p:sldId id="320" r:id="rId46"/>
    <p:sldId id="321" r:id="rId47"/>
    <p:sldId id="322" r:id="rId48"/>
    <p:sldId id="323" r:id="rId49"/>
    <p:sldId id="324" r:id="rId50"/>
    <p:sldId id="325" r:id="rId51"/>
    <p:sldId id="326" r:id="rId52"/>
    <p:sldId id="272" r:id="rId53"/>
    <p:sldId id="266" r:id="rId54"/>
    <p:sldId id="273" r:id="rId55"/>
    <p:sldId id="274" r:id="rId56"/>
    <p:sldId id="267" r:id="rId57"/>
    <p:sldId id="268" r:id="rId58"/>
    <p:sldId id="269" r:id="rId59"/>
    <p:sldId id="270" r:id="rId60"/>
    <p:sldId id="27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27EB67-1C2C-42A0-97DA-E1D40408AEFB}">
          <p14:sldIdLst>
            <p14:sldId id="260"/>
            <p14:sldId id="257"/>
            <p14:sldId id="261"/>
          </p14:sldIdLst>
        </p14:section>
        <p14:section name="The Power of Design Patterns" id="{E8D76077-AB0C-4CAD-AD36-4FF22B7B5630}">
          <p14:sldIdLst>
            <p14:sldId id="262"/>
            <p14:sldId id="275"/>
            <p14:sldId id="283"/>
            <p14:sldId id="284"/>
            <p14:sldId id="285"/>
            <p14:sldId id="286"/>
            <p14:sldId id="287"/>
            <p14:sldId id="288"/>
            <p14:sldId id="289"/>
            <p14:sldId id="290"/>
            <p14:sldId id="291"/>
            <p14:sldId id="293"/>
            <p14:sldId id="292"/>
            <p14:sldId id="294"/>
            <p14:sldId id="295"/>
            <p14:sldId id="296"/>
          </p14:sldIdLst>
        </p14:section>
        <p14:section name="Not All Patterns Are Created Equal" id="{1F0C971A-ACBE-4196-BC2E-320A5835389D}">
          <p14:sldIdLst>
            <p14:sldId id="297"/>
            <p14:sldId id="298"/>
            <p14:sldId id="299"/>
            <p14:sldId id="300"/>
            <p14:sldId id="301"/>
          </p14:sldIdLst>
        </p14:section>
        <p14:section name="The Problematic Patterns (Intro)" id="{4E0C628C-CDDA-47F2-BBC9-DD53BA42CF0E}">
          <p14:sldIdLst>
            <p14:sldId id="302"/>
            <p14:sldId id="303"/>
            <p14:sldId id="304"/>
          </p14:sldIdLst>
        </p14:section>
        <p14:section name="Singleton Pattern" id="{91AE567E-F7FC-4EDC-82AD-B2AC6E4A777F}">
          <p14:sldIdLst>
            <p14:sldId id="305"/>
            <p14:sldId id="306"/>
            <p14:sldId id="307"/>
            <p14:sldId id="308"/>
            <p14:sldId id="309"/>
            <p14:sldId id="310"/>
            <p14:sldId id="311"/>
            <p14:sldId id="312"/>
            <p14:sldId id="319"/>
            <p14:sldId id="313"/>
            <p14:sldId id="314"/>
            <p14:sldId id="315"/>
            <p14:sldId id="316"/>
            <p14:sldId id="317"/>
            <p14:sldId id="318"/>
            <p14:sldId id="327"/>
            <p14:sldId id="320"/>
            <p14:sldId id="321"/>
            <p14:sldId id="322"/>
            <p14:sldId id="323"/>
            <p14:sldId id="324"/>
            <p14:sldId id="325"/>
            <p14:sldId id="326"/>
            <p14:sldId id="272"/>
            <p14:sldId id="266"/>
            <p14:sldId id="273"/>
            <p14:sldId id="274"/>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E00"/>
    <a:srgbClr val="FF9F00"/>
    <a:srgbClr val="1310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0" autoAdjust="0"/>
    <p:restoredTop sz="68757" autoAdjust="0"/>
  </p:normalViewPr>
  <p:slideViewPr>
    <p:cSldViewPr snapToGrid="0">
      <p:cViewPr varScale="1">
        <p:scale>
          <a:sx n="57" d="100"/>
          <a:sy n="57" d="100"/>
        </p:scale>
        <p:origin x="72"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0030A4-F55C-4E24-9406-06C2CB21E16C}" type="datetimeFigureOut">
              <a:rPr lang="en-US" smtClean="0"/>
              <a:t>11/29/2023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05C235-7E9C-46EE-B767-3B81D4CFAF32}" type="slidenum">
              <a:rPr lang="en-US" smtClean="0"/>
              <a:t>‹#›</a:t>
            </a:fld>
            <a:endParaRPr lang="en-US"/>
          </a:p>
        </p:txBody>
      </p:sp>
    </p:spTree>
    <p:extLst>
      <p:ext uri="{BB962C8B-B14F-4D97-AF65-F5344CB8AC3E}">
        <p14:creationId xmlns:p14="http://schemas.microsoft.com/office/powerpoint/2010/main" val="1698932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a:t>
            </a:fld>
            <a:endParaRPr lang="en-US"/>
          </a:p>
        </p:txBody>
      </p:sp>
    </p:spTree>
    <p:extLst>
      <p:ext uri="{BB962C8B-B14F-4D97-AF65-F5344CB8AC3E}">
        <p14:creationId xmlns:p14="http://schemas.microsoft.com/office/powerpoint/2010/main" val="1141561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Design patterns play a crucial role in software development by providing general, reusable solutions to common problems that developers encounter during the design and implementation of software systems. These patterns are essentially templates for solving recurring design problems, and they encapsulate best practices and proven solutions.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a:t>
            </a:fld>
            <a:endParaRPr lang="en-US"/>
          </a:p>
        </p:txBody>
      </p:sp>
    </p:spTree>
    <p:extLst>
      <p:ext uri="{BB962C8B-B14F-4D97-AF65-F5344CB8AC3E}">
        <p14:creationId xmlns:p14="http://schemas.microsoft.com/office/powerpoint/2010/main" val="321778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Code Reusability:</a:t>
            </a:r>
            <a:r>
              <a:rPr lang="en-US" b="0" i="0" dirty="0">
                <a:solidFill>
                  <a:srgbClr val="374151"/>
                </a:solidFill>
                <a:effectLst/>
                <a:latin typeface="Söhne"/>
              </a:rPr>
              <a:t> Design patterns promote code reuse by offering well-established solutions to common problems. Developers can leverage these patterns in various contexts, saving time and effort in the development process.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6</a:t>
            </a:fld>
            <a:endParaRPr lang="en-US"/>
          </a:p>
        </p:txBody>
      </p:sp>
    </p:spTree>
    <p:extLst>
      <p:ext uri="{BB962C8B-B14F-4D97-AF65-F5344CB8AC3E}">
        <p14:creationId xmlns:p14="http://schemas.microsoft.com/office/powerpoint/2010/main" val="3057275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Scalability and Maintainability:</a:t>
            </a:r>
            <a:r>
              <a:rPr lang="en-US" b="0" i="0" dirty="0">
                <a:solidFill>
                  <a:srgbClr val="374151"/>
                </a:solidFill>
                <a:effectLst/>
                <a:latin typeface="Söhne"/>
              </a:rPr>
              <a:t> Using design patterns helps create scalable and maintainable software. They provide a structured approach to organizing code, making it easier to understand, modify, and extend. This is especially important as software systems evolve over time.</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7</a:t>
            </a:fld>
            <a:endParaRPr lang="en-US"/>
          </a:p>
        </p:txBody>
      </p:sp>
    </p:spTree>
    <p:extLst>
      <p:ext uri="{BB962C8B-B14F-4D97-AF65-F5344CB8AC3E}">
        <p14:creationId xmlns:p14="http://schemas.microsoft.com/office/powerpoint/2010/main" val="2958681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Common Vocabulary:</a:t>
            </a:r>
            <a:r>
              <a:rPr lang="en-US" b="0" i="0" dirty="0">
                <a:solidFill>
                  <a:srgbClr val="374151"/>
                </a:solidFill>
                <a:effectLst/>
                <a:latin typeface="Söhne"/>
              </a:rPr>
              <a:t> Design patterns provide a common vocabulary for developers to communicate and share solutions. When a team is familiar with design patterns, it becomes easier to discuss and understand the architecture of a software system.</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8</a:t>
            </a:fld>
            <a:endParaRPr lang="en-US"/>
          </a:p>
        </p:txBody>
      </p:sp>
    </p:spTree>
    <p:extLst>
      <p:ext uri="{BB962C8B-B14F-4D97-AF65-F5344CB8AC3E}">
        <p14:creationId xmlns:p14="http://schemas.microsoft.com/office/powerpoint/2010/main" val="379443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Best Practices:</a:t>
            </a:r>
            <a:r>
              <a:rPr lang="en-US" b="0" i="0" dirty="0">
                <a:solidFill>
                  <a:srgbClr val="374151"/>
                </a:solidFill>
                <a:effectLst/>
                <a:latin typeface="Söhne"/>
              </a:rPr>
              <a:t> Design patterns encapsulate best practices in software design. They represent solutions that have been refined and validated by the software development community over time. By following these patterns, developers can avoid common pitfalls and design more robust systems.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9</a:t>
            </a:fld>
            <a:endParaRPr lang="en-US"/>
          </a:p>
        </p:txBody>
      </p:sp>
    </p:spTree>
    <p:extLst>
      <p:ext uri="{BB962C8B-B14F-4D97-AF65-F5344CB8AC3E}">
        <p14:creationId xmlns:p14="http://schemas.microsoft.com/office/powerpoint/2010/main" val="3588661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Abstraction and Flexibility:</a:t>
            </a:r>
            <a:r>
              <a:rPr lang="en-US" b="0" i="0" dirty="0">
                <a:solidFill>
                  <a:srgbClr val="374151"/>
                </a:solidFill>
                <a:effectLst/>
                <a:latin typeface="Söhne"/>
              </a:rPr>
              <a:t> Design patterns often rely on abstraction to decouple different components of a system. This abstraction promotes flexibility, allowing developers to make changes to one part of the system without affecting other parts. This makes the software more adaptable to changing requirements.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10</a:t>
            </a:fld>
            <a:endParaRPr lang="en-US"/>
          </a:p>
        </p:txBody>
      </p:sp>
    </p:spTree>
    <p:extLst>
      <p:ext uri="{BB962C8B-B14F-4D97-AF65-F5344CB8AC3E}">
        <p14:creationId xmlns:p14="http://schemas.microsoft.com/office/powerpoint/2010/main" val="2138380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Ease of Maintenance:</a:t>
            </a:r>
            <a:r>
              <a:rPr lang="en-US" b="0" i="0" dirty="0">
                <a:solidFill>
                  <a:srgbClr val="374151"/>
                </a:solidFill>
                <a:effectLst/>
                <a:latin typeface="Söhne"/>
              </a:rPr>
              <a:t> With a well-organized codebase that follows design patterns, maintenance becomes more straightforward. When developers understand the patterns used in a system, they can quickly locate and address issues or make enhancements without introducing unintended side effects.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11</a:t>
            </a:fld>
            <a:endParaRPr lang="en-US"/>
          </a:p>
        </p:txBody>
      </p:sp>
    </p:spTree>
    <p:extLst>
      <p:ext uri="{BB962C8B-B14F-4D97-AF65-F5344CB8AC3E}">
        <p14:creationId xmlns:p14="http://schemas.microsoft.com/office/powerpoint/2010/main" val="1480076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Learning and Onboarding:</a:t>
            </a:r>
            <a:r>
              <a:rPr lang="en-US" b="0" i="0" dirty="0">
                <a:solidFill>
                  <a:srgbClr val="374151"/>
                </a:solidFill>
                <a:effectLst/>
                <a:latin typeface="Söhne"/>
              </a:rPr>
              <a:t> Design patterns serve as educational tools for developers, helping them learn from the experience of others. They provide a structured way for newcomers to understand complex software architectures and contribute effectively to a project.</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12</a:t>
            </a:fld>
            <a:endParaRPr lang="en-US"/>
          </a:p>
        </p:txBody>
      </p:sp>
    </p:spTree>
    <p:extLst>
      <p:ext uri="{BB962C8B-B14F-4D97-AF65-F5344CB8AC3E}">
        <p14:creationId xmlns:p14="http://schemas.microsoft.com/office/powerpoint/2010/main" val="484943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Documentation:</a:t>
            </a:r>
            <a:r>
              <a:rPr lang="en-US" b="0" i="0" dirty="0">
                <a:solidFill>
                  <a:srgbClr val="374151"/>
                </a:solidFill>
                <a:effectLst/>
                <a:latin typeface="Söhne"/>
              </a:rPr>
              <a:t> Design patterns can serve as a form of documentation. When developers see familiar patterns in the code, they can quickly grasp the overall design and functionality of the system.</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13</a:t>
            </a:fld>
            <a:endParaRPr lang="en-US"/>
          </a:p>
        </p:txBody>
      </p:sp>
    </p:spTree>
    <p:extLst>
      <p:ext uri="{BB962C8B-B14F-4D97-AF65-F5344CB8AC3E}">
        <p14:creationId xmlns:p14="http://schemas.microsoft.com/office/powerpoint/2010/main" val="2605633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summary, design patterns contribute significantly to the efficiency, maintainability, and scalability of software systems. They provide a shared set of solutions and principles that enhance the quality of software development, making it easier to build robust and adaptable applications.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14</a:t>
            </a:fld>
            <a:endParaRPr lang="en-US"/>
          </a:p>
        </p:txBody>
      </p:sp>
    </p:spTree>
    <p:extLst>
      <p:ext uri="{BB962C8B-B14F-4D97-AF65-F5344CB8AC3E}">
        <p14:creationId xmlns:p14="http://schemas.microsoft.com/office/powerpoint/2010/main" val="3105172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Gang of Four (</a:t>
            </a:r>
            <a:r>
              <a:rPr lang="en-US" b="0" i="0" dirty="0" err="1">
                <a:solidFill>
                  <a:srgbClr val="374151"/>
                </a:solidFill>
                <a:effectLst/>
                <a:latin typeface="Söhne"/>
              </a:rPr>
              <a:t>GoF</a:t>
            </a:r>
            <a:r>
              <a:rPr lang="en-US" b="0" i="0" dirty="0">
                <a:solidFill>
                  <a:srgbClr val="374151"/>
                </a:solidFill>
                <a:effectLst/>
                <a:latin typeface="Söhne"/>
              </a:rPr>
              <a:t>) refers to a group of four authors who wrote the influential book "Design Patterns: Elements of Reusable Object-Oriented Software." The book was first published in 1994 and has since become a classic in the field of software engineering. The authors, often referred to as the Gang of Four, are:</a:t>
            </a:r>
          </a:p>
          <a:p>
            <a:pPr algn="l">
              <a:buFont typeface="+mj-lt"/>
              <a:buNone/>
            </a:pPr>
            <a:endParaRPr lang="en-US" b="0" i="0" dirty="0">
              <a:solidFill>
                <a:srgbClr val="374151"/>
              </a:solidFill>
              <a:effectLst/>
              <a:latin typeface="Söhne"/>
            </a:endParaRPr>
          </a:p>
          <a:p>
            <a:pPr marL="171450" indent="-171450" algn="l">
              <a:buFont typeface="Arial" panose="020B0604020202020204" pitchFamily="34" charset="0"/>
              <a:buChar char="•"/>
            </a:pPr>
            <a:r>
              <a:rPr lang="en-US" b="0" i="0" dirty="0">
                <a:solidFill>
                  <a:srgbClr val="374151"/>
                </a:solidFill>
                <a:effectLst/>
                <a:latin typeface="Söhne"/>
              </a:rPr>
              <a:t>Erich Gamma</a:t>
            </a:r>
          </a:p>
          <a:p>
            <a:pPr marL="171450" indent="-171450" algn="l">
              <a:buFont typeface="Arial" panose="020B0604020202020204" pitchFamily="34" charset="0"/>
              <a:buChar char="•"/>
            </a:pPr>
            <a:r>
              <a:rPr lang="en-US" b="0" i="0" dirty="0">
                <a:solidFill>
                  <a:srgbClr val="374151"/>
                </a:solidFill>
                <a:effectLst/>
                <a:latin typeface="Söhne"/>
              </a:rPr>
              <a:t>Richard Helm</a:t>
            </a:r>
          </a:p>
          <a:p>
            <a:pPr marL="171450" indent="-171450" algn="l">
              <a:buFont typeface="Arial" panose="020B0604020202020204" pitchFamily="34" charset="0"/>
              <a:buChar char="•"/>
            </a:pPr>
            <a:r>
              <a:rPr lang="en-US" b="0" i="0" dirty="0">
                <a:solidFill>
                  <a:srgbClr val="374151"/>
                </a:solidFill>
                <a:effectLst/>
                <a:latin typeface="Söhne"/>
              </a:rPr>
              <a:t>Ralph Johnson</a:t>
            </a:r>
          </a:p>
          <a:p>
            <a:pPr marL="171450" indent="-171450" algn="l">
              <a:buFont typeface="Arial" panose="020B0604020202020204" pitchFamily="34" charset="0"/>
              <a:buChar char="•"/>
            </a:pPr>
            <a:r>
              <a:rPr lang="en-US" b="0" i="0" dirty="0">
                <a:solidFill>
                  <a:srgbClr val="374151"/>
                </a:solidFill>
                <a:effectLst/>
                <a:latin typeface="Söhne"/>
              </a:rPr>
              <a:t>John </a:t>
            </a:r>
            <a:r>
              <a:rPr lang="en-US" b="0" i="0" dirty="0" err="1">
                <a:solidFill>
                  <a:srgbClr val="374151"/>
                </a:solidFill>
                <a:effectLst/>
                <a:latin typeface="Söhne"/>
              </a:rPr>
              <a:t>Vlissides</a:t>
            </a:r>
            <a:endParaRPr lang="en-US" b="0" i="0" dirty="0">
              <a:solidFill>
                <a:srgbClr val="374151"/>
              </a:solidFill>
              <a:effectLst/>
              <a:latin typeface="Söhne"/>
            </a:endParaRPr>
          </a:p>
          <a:p>
            <a:pPr algn="l"/>
            <a:endParaRPr lang="en-US" b="0" i="0" dirty="0">
              <a:solidFill>
                <a:srgbClr val="374151"/>
              </a:solidFill>
              <a:effectLst/>
              <a:latin typeface="Söhne"/>
            </a:endParaRPr>
          </a:p>
          <a:p>
            <a:pPr algn="l"/>
            <a:r>
              <a:rPr lang="en-US" b="0" i="0" dirty="0">
                <a:solidFill>
                  <a:srgbClr val="374151"/>
                </a:solidFill>
                <a:effectLst/>
                <a:latin typeface="Söhne"/>
              </a:rPr>
              <a:t>The main goal of the book is to identify and catalog common design patterns in object-oriented software development. A design pattern is a general reusable solution to a commonly occurring problem within a given context in software design. The authors identified 23 such patterns and organized them into three categories: creational, structural, and behavioral.</a:t>
            </a: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15</a:t>
            </a:fld>
            <a:endParaRPr lang="en-US"/>
          </a:p>
        </p:txBody>
      </p:sp>
    </p:spTree>
    <p:extLst>
      <p:ext uri="{BB962C8B-B14F-4D97-AF65-F5344CB8AC3E}">
        <p14:creationId xmlns:p14="http://schemas.microsoft.com/office/powerpoint/2010/main" val="605006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374151"/>
                </a:solidFill>
                <a:effectLst/>
                <a:latin typeface="Söhne"/>
              </a:rPr>
              <a:t>There are three main types of design patterns:</a:t>
            </a:r>
          </a:p>
          <a:p>
            <a:pPr algn="l">
              <a:buFont typeface="Arial" panose="020B0604020202020204" pitchFamily="34" charset="0"/>
              <a:buNone/>
            </a:pPr>
            <a:r>
              <a:rPr lang="en-US" b="1" i="0" dirty="0">
                <a:solidFill>
                  <a:srgbClr val="374151"/>
                </a:solidFill>
                <a:effectLst/>
                <a:latin typeface="Söhne"/>
              </a:rPr>
              <a:t> </a:t>
            </a:r>
          </a:p>
          <a:p>
            <a:pPr algn="l">
              <a:buFont typeface="Arial" panose="020B0604020202020204" pitchFamily="34" charset="0"/>
              <a:buNone/>
            </a:pPr>
            <a:r>
              <a:rPr lang="en-US" b="1" i="0" dirty="0">
                <a:solidFill>
                  <a:srgbClr val="374151"/>
                </a:solidFill>
                <a:effectLst/>
                <a:latin typeface="Söhne"/>
              </a:rPr>
              <a:t>Creational Patterns:</a:t>
            </a:r>
            <a:r>
              <a:rPr lang="en-US" b="0" i="0" dirty="0">
                <a:solidFill>
                  <a:srgbClr val="374151"/>
                </a:solidFill>
                <a:effectLst/>
                <a:latin typeface="Söhne"/>
              </a:rPr>
              <a:t> These patterns deal with object creation mechanisms, trying to create objects in a manner suitable to the situation.</a:t>
            </a: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E5DCC5"/>
                </a:solidFill>
                <a:effectLst/>
                <a:latin typeface="Montserrat" panose="00000500000000000000" pitchFamily="2" charset="0"/>
              </a:rPr>
              <a:t> Interpreter </a:t>
            </a:r>
          </a:p>
          <a:p>
            <a:pPr algn="l">
              <a:buFont typeface="Arial" panose="020B0604020202020204" pitchFamily="34" charset="0"/>
              <a:buChar char="•"/>
            </a:pPr>
            <a:r>
              <a:rPr lang="en-US" b="0" i="0" dirty="0">
                <a:solidFill>
                  <a:srgbClr val="E5DCC5"/>
                </a:solidFill>
                <a:effectLst/>
                <a:latin typeface="Montserrat" panose="00000500000000000000" pitchFamily="2" charset="0"/>
              </a:rPr>
              <a:t> Template Method </a:t>
            </a:r>
          </a:p>
          <a:p>
            <a:pPr algn="l">
              <a:buFont typeface="Arial" panose="020B0604020202020204" pitchFamily="34" charset="0"/>
              <a:buChar char="•"/>
            </a:pPr>
            <a:r>
              <a:rPr lang="en-US" b="0" i="0" dirty="0">
                <a:solidFill>
                  <a:srgbClr val="E5DCC5"/>
                </a:solidFill>
                <a:effectLst/>
                <a:latin typeface="Montserrat" panose="00000500000000000000" pitchFamily="2" charset="0"/>
              </a:rPr>
              <a:t> Chain of Responsibility</a:t>
            </a:r>
          </a:p>
          <a:p>
            <a:pPr algn="l">
              <a:buFont typeface="Arial" panose="020B0604020202020204" pitchFamily="34" charset="0"/>
              <a:buChar char="•"/>
            </a:pPr>
            <a:r>
              <a:rPr lang="en-US" b="0" i="0" dirty="0">
                <a:solidFill>
                  <a:srgbClr val="E5DCC5"/>
                </a:solidFill>
                <a:effectLst/>
                <a:latin typeface="Montserrat" panose="00000500000000000000" pitchFamily="2" charset="0"/>
              </a:rPr>
              <a:t> Command </a:t>
            </a:r>
          </a:p>
          <a:p>
            <a:pPr algn="l">
              <a:buFont typeface="Arial" panose="020B0604020202020204" pitchFamily="34" charset="0"/>
              <a:buChar char="•"/>
            </a:pPr>
            <a:r>
              <a:rPr lang="en-US" b="0" i="0" dirty="0">
                <a:solidFill>
                  <a:srgbClr val="E5DCC5"/>
                </a:solidFill>
                <a:effectLst/>
                <a:latin typeface="Montserrat" panose="00000500000000000000" pitchFamily="2" charset="0"/>
              </a:rPr>
              <a:t> Iterator</a:t>
            </a:r>
          </a:p>
          <a:p>
            <a:pPr algn="l">
              <a:buFont typeface="Arial" panose="020B0604020202020204" pitchFamily="34" charset="0"/>
              <a:buChar char="•"/>
            </a:pPr>
            <a:r>
              <a:rPr lang="en-US" b="0" i="0" dirty="0">
                <a:solidFill>
                  <a:srgbClr val="E5DCC5"/>
                </a:solidFill>
                <a:effectLst/>
                <a:latin typeface="Montserrat" panose="00000500000000000000" pitchFamily="2" charset="0"/>
              </a:rPr>
              <a:t> Mediator </a:t>
            </a:r>
          </a:p>
          <a:p>
            <a:pPr algn="l">
              <a:buFont typeface="Arial" panose="020B0604020202020204" pitchFamily="34" charset="0"/>
              <a:buChar char="•"/>
            </a:pPr>
            <a:r>
              <a:rPr lang="en-US" b="0" i="0" dirty="0">
                <a:solidFill>
                  <a:srgbClr val="E5DCC5"/>
                </a:solidFill>
                <a:effectLst/>
                <a:latin typeface="Montserrat" panose="00000500000000000000" pitchFamily="2" charset="0"/>
              </a:rPr>
              <a:t> Memento </a:t>
            </a:r>
          </a:p>
          <a:p>
            <a:pPr algn="l">
              <a:buFont typeface="Arial" panose="020B0604020202020204" pitchFamily="34" charset="0"/>
              <a:buChar char="•"/>
            </a:pPr>
            <a:r>
              <a:rPr lang="en-US" b="0" i="0" dirty="0">
                <a:solidFill>
                  <a:srgbClr val="E5DCC5"/>
                </a:solidFill>
                <a:effectLst/>
                <a:latin typeface="Montserrat" panose="00000500000000000000" pitchFamily="2" charset="0"/>
              </a:rPr>
              <a:t> Observer </a:t>
            </a:r>
          </a:p>
          <a:p>
            <a:pPr algn="l">
              <a:buFont typeface="Arial" panose="020B0604020202020204" pitchFamily="34" charset="0"/>
              <a:buChar char="•"/>
            </a:pPr>
            <a:r>
              <a:rPr lang="en-US" b="0" i="0" dirty="0">
                <a:solidFill>
                  <a:srgbClr val="E5DCC5"/>
                </a:solidFill>
                <a:effectLst/>
                <a:latin typeface="Montserrat" panose="00000500000000000000" pitchFamily="2" charset="0"/>
              </a:rPr>
              <a:t> State</a:t>
            </a:r>
          </a:p>
          <a:p>
            <a:pPr algn="l">
              <a:buFont typeface="Arial" panose="020B0604020202020204" pitchFamily="34" charset="0"/>
              <a:buChar char="•"/>
            </a:pPr>
            <a:r>
              <a:rPr lang="en-US" b="0" i="0" dirty="0">
                <a:solidFill>
                  <a:srgbClr val="E5DCC5"/>
                </a:solidFill>
                <a:effectLst/>
                <a:latin typeface="Montserrat" panose="00000500000000000000" pitchFamily="2" charset="0"/>
              </a:rPr>
              <a:t> Strategy </a:t>
            </a:r>
          </a:p>
          <a:p>
            <a:pPr algn="l">
              <a:buFont typeface="Arial" panose="020B0604020202020204" pitchFamily="34" charset="0"/>
              <a:buChar char="•"/>
            </a:pPr>
            <a:r>
              <a:rPr lang="en-US" b="0" i="0" dirty="0">
                <a:solidFill>
                  <a:srgbClr val="E5DCC5"/>
                </a:solidFill>
                <a:effectLst/>
                <a:latin typeface="Montserrat" panose="00000500000000000000" pitchFamily="2" charset="0"/>
              </a:rPr>
              <a:t> Visitor</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16</a:t>
            </a:fld>
            <a:endParaRPr lang="en-US"/>
          </a:p>
        </p:txBody>
      </p:sp>
    </p:spTree>
    <p:extLst>
      <p:ext uri="{BB962C8B-B14F-4D97-AF65-F5344CB8AC3E}">
        <p14:creationId xmlns:p14="http://schemas.microsoft.com/office/powerpoint/2010/main" val="16624063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dirty="0">
                <a:solidFill>
                  <a:srgbClr val="374151"/>
                </a:solidFill>
                <a:effectLst/>
                <a:latin typeface="Söhne"/>
              </a:rPr>
              <a:t>Structural Patterns:</a:t>
            </a:r>
            <a:r>
              <a:rPr lang="en-US" b="0" i="0" dirty="0">
                <a:solidFill>
                  <a:srgbClr val="374151"/>
                </a:solidFill>
                <a:effectLst/>
                <a:latin typeface="Söhne"/>
              </a:rPr>
              <a:t> These patterns deal with object composition, creating relationships between objects to form larger structures.</a:t>
            </a:r>
          </a:p>
          <a:p>
            <a:pPr algn="l">
              <a:buFont typeface="Arial" panose="020B0604020202020204" pitchFamily="34" charset="0"/>
              <a:buNone/>
            </a:pP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E5DCC5"/>
                </a:solidFill>
                <a:effectLst/>
                <a:latin typeface="Montserrat" panose="00000500000000000000" pitchFamily="2" charset="0"/>
              </a:rPr>
              <a:t> Factory Method</a:t>
            </a:r>
          </a:p>
          <a:p>
            <a:pPr algn="l">
              <a:buFont typeface="Arial" panose="020B0604020202020204" pitchFamily="34" charset="0"/>
              <a:buChar char="•"/>
            </a:pPr>
            <a:r>
              <a:rPr lang="en-US" b="0" i="0" dirty="0">
                <a:solidFill>
                  <a:srgbClr val="E5DCC5"/>
                </a:solidFill>
                <a:effectLst/>
                <a:latin typeface="Montserrat" panose="00000500000000000000" pitchFamily="2" charset="0"/>
              </a:rPr>
              <a:t> Abstract Factory</a:t>
            </a:r>
          </a:p>
          <a:p>
            <a:pPr algn="l">
              <a:buFont typeface="Arial" panose="020B0604020202020204" pitchFamily="34" charset="0"/>
              <a:buChar char="•"/>
            </a:pPr>
            <a:r>
              <a:rPr lang="en-US" b="0" i="0" dirty="0">
                <a:solidFill>
                  <a:srgbClr val="E5DCC5"/>
                </a:solidFill>
                <a:effectLst/>
                <a:latin typeface="Montserrat" panose="00000500000000000000" pitchFamily="2" charset="0"/>
              </a:rPr>
              <a:t> Builder </a:t>
            </a:r>
          </a:p>
          <a:p>
            <a:pPr algn="l">
              <a:buFont typeface="Arial" panose="020B0604020202020204" pitchFamily="34" charset="0"/>
              <a:buChar char="•"/>
            </a:pPr>
            <a:r>
              <a:rPr lang="en-US" b="0" i="0" dirty="0">
                <a:solidFill>
                  <a:srgbClr val="E5DCC5"/>
                </a:solidFill>
                <a:effectLst/>
                <a:latin typeface="Montserrat" panose="00000500000000000000" pitchFamily="2" charset="0"/>
              </a:rPr>
              <a:t> Prototype</a:t>
            </a:r>
          </a:p>
          <a:p>
            <a:pPr algn="l">
              <a:buFont typeface="Arial" panose="020B0604020202020204" pitchFamily="34" charset="0"/>
              <a:buChar char="•"/>
            </a:pPr>
            <a:r>
              <a:rPr lang="en-US" b="0" i="0" dirty="0">
                <a:solidFill>
                  <a:srgbClr val="E5DCC5"/>
                </a:solidFill>
                <a:effectLst/>
                <a:latin typeface="Montserrat" panose="00000500000000000000" pitchFamily="2" charset="0"/>
              </a:rPr>
              <a:t> Singleton</a:t>
            </a:r>
          </a:p>
          <a:p>
            <a:pPr algn="l">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17</a:t>
            </a:fld>
            <a:endParaRPr lang="en-US"/>
          </a:p>
        </p:txBody>
      </p:sp>
    </p:spTree>
    <p:extLst>
      <p:ext uri="{BB962C8B-B14F-4D97-AF65-F5344CB8AC3E}">
        <p14:creationId xmlns:p14="http://schemas.microsoft.com/office/powerpoint/2010/main" val="3437793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dirty="0">
                <a:solidFill>
                  <a:srgbClr val="374151"/>
                </a:solidFill>
                <a:effectLst/>
                <a:latin typeface="Söhne"/>
              </a:rPr>
              <a:t>Behavioral Patterns:</a:t>
            </a:r>
            <a:r>
              <a:rPr lang="en-US" b="0" i="0" dirty="0">
                <a:solidFill>
                  <a:srgbClr val="374151"/>
                </a:solidFill>
                <a:effectLst/>
                <a:latin typeface="Söhne"/>
              </a:rPr>
              <a:t> These patterns focus on communication between objects, defining how they operate together to distribute responsibility.</a:t>
            </a:r>
          </a:p>
          <a:p>
            <a:pPr algn="l">
              <a:buFont typeface="Arial" panose="020B0604020202020204" pitchFamily="34" charset="0"/>
              <a:buNone/>
            </a:pP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E5DCC5"/>
                </a:solidFill>
                <a:effectLst/>
                <a:latin typeface="Montserrat" panose="00000500000000000000" pitchFamily="2" charset="0"/>
              </a:rPr>
              <a:t> Adapter</a:t>
            </a:r>
          </a:p>
          <a:p>
            <a:pPr algn="l">
              <a:buFont typeface="Arial" panose="020B0604020202020204" pitchFamily="34" charset="0"/>
              <a:buChar char="•"/>
            </a:pPr>
            <a:r>
              <a:rPr lang="en-US" b="0" i="0" dirty="0">
                <a:solidFill>
                  <a:srgbClr val="E5DCC5"/>
                </a:solidFill>
                <a:effectLst/>
                <a:latin typeface="Montserrat" panose="00000500000000000000" pitchFamily="2" charset="0"/>
              </a:rPr>
              <a:t> Bridge</a:t>
            </a:r>
          </a:p>
          <a:p>
            <a:pPr algn="l">
              <a:buFont typeface="Arial" panose="020B0604020202020204" pitchFamily="34" charset="0"/>
              <a:buChar char="•"/>
            </a:pPr>
            <a:r>
              <a:rPr lang="en-US" b="0" i="0" dirty="0">
                <a:solidFill>
                  <a:srgbClr val="E5DCC5"/>
                </a:solidFill>
                <a:effectLst/>
                <a:latin typeface="Montserrat" panose="00000500000000000000" pitchFamily="2" charset="0"/>
              </a:rPr>
              <a:t> Composite </a:t>
            </a:r>
          </a:p>
          <a:p>
            <a:pPr algn="l">
              <a:buFont typeface="Arial" panose="020B0604020202020204" pitchFamily="34" charset="0"/>
              <a:buChar char="•"/>
            </a:pPr>
            <a:r>
              <a:rPr lang="en-US" b="0" i="0" dirty="0">
                <a:solidFill>
                  <a:srgbClr val="E5DCC5"/>
                </a:solidFill>
                <a:effectLst/>
                <a:latin typeface="Montserrat" panose="00000500000000000000" pitchFamily="2" charset="0"/>
              </a:rPr>
              <a:t> Decorator</a:t>
            </a:r>
          </a:p>
          <a:p>
            <a:pPr algn="l">
              <a:buFont typeface="Arial" panose="020B0604020202020204" pitchFamily="34" charset="0"/>
              <a:buChar char="•"/>
            </a:pPr>
            <a:r>
              <a:rPr lang="en-US" b="0" i="0" dirty="0">
                <a:solidFill>
                  <a:srgbClr val="E5DCC5"/>
                </a:solidFill>
                <a:effectLst/>
                <a:latin typeface="Montserrat" panose="00000500000000000000" pitchFamily="2" charset="0"/>
              </a:rPr>
              <a:t> Façade</a:t>
            </a:r>
          </a:p>
          <a:p>
            <a:pPr algn="l">
              <a:buFont typeface="Arial" panose="020B0604020202020204" pitchFamily="34" charset="0"/>
              <a:buChar char="•"/>
            </a:pPr>
            <a:r>
              <a:rPr lang="en-US" b="0" i="0" dirty="0">
                <a:solidFill>
                  <a:srgbClr val="E5DCC5"/>
                </a:solidFill>
                <a:effectLst/>
                <a:latin typeface="Montserrat" panose="00000500000000000000" pitchFamily="2" charset="0"/>
              </a:rPr>
              <a:t> Flyweight</a:t>
            </a:r>
          </a:p>
          <a:p>
            <a:pPr algn="l">
              <a:buFont typeface="Arial" panose="020B0604020202020204" pitchFamily="34" charset="0"/>
              <a:buChar char="•"/>
            </a:pPr>
            <a:r>
              <a:rPr lang="en-US" b="0" i="0" dirty="0">
                <a:solidFill>
                  <a:srgbClr val="E5DCC5"/>
                </a:solidFill>
                <a:effectLst/>
                <a:latin typeface="Montserrat" panose="00000500000000000000" pitchFamily="2" charset="0"/>
              </a:rPr>
              <a:t> Proxy</a:t>
            </a:r>
          </a:p>
          <a:p>
            <a:pPr algn="l">
              <a:buFont typeface="Arial" panose="020B0604020202020204" pitchFamily="34" charset="0"/>
              <a:buNone/>
            </a:pPr>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18</a:t>
            </a:fld>
            <a:endParaRPr lang="en-US"/>
          </a:p>
        </p:txBody>
      </p:sp>
    </p:spTree>
    <p:extLst>
      <p:ext uri="{BB962C8B-B14F-4D97-AF65-F5344CB8AC3E}">
        <p14:creationId xmlns:p14="http://schemas.microsoft.com/office/powerpoint/2010/main" val="2465895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 software design patterns refer to reusable, general solutions to common problems that arise in the design and organization of software systems. These patterns provide a template for solving specific issues related to the structure and interaction of software components within an application or across a system of applications. They are high-level abstractions that guide the design process and promote best practices for creating scalable, maintainable, and efficient software architectures.</a:t>
            </a:r>
          </a:p>
          <a:p>
            <a:endParaRPr lang="en-US" dirty="0"/>
          </a:p>
          <a:p>
            <a:pPr marL="171450" indent="-171450">
              <a:buFont typeface="Arial" panose="020B0604020202020204" pitchFamily="34" charset="0"/>
              <a:buChar char="•"/>
            </a:pPr>
            <a:r>
              <a:rPr lang="en-US" b="1" dirty="0"/>
              <a:t>Model-View-Controller (MVC)</a:t>
            </a:r>
            <a:r>
              <a:rPr lang="en-US" dirty="0"/>
              <a:t>: Separates an application into three interconnected components - the model (data and business logic), the view (user interface), and the controller (handles user input and updates the model).</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Layered Architecture</a:t>
            </a:r>
            <a:r>
              <a:rPr lang="en-US" dirty="0"/>
              <a:t>: Organizes the software into distinct layers, each responsible for a specific set of functionalities. Common layers include presentation, business logic, and data storage.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Microservices Architecture</a:t>
            </a:r>
            <a:r>
              <a:rPr lang="en-US" dirty="0"/>
              <a:t>: Decomposes a system into small, independent services that communicate through well-defined APIs. This promotes scalability, flexibility, and ease of maintenance.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Event-Driven Architecture (EDA)</a:t>
            </a:r>
            <a:r>
              <a:rPr lang="en-US" dirty="0"/>
              <a:t>: Emphasizes the production, detection, consumption, and reaction to events. Components communicate by producing or reacting to events, allowing for loose coupling and flexibility.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Service-Oriented Architecture (SOA)</a:t>
            </a:r>
            <a:r>
              <a:rPr lang="en-US" dirty="0"/>
              <a:t>: Structures software as a collection of loosely coupled, interoperable services that communicate over a network. Each service provides a specific business functionality.</a:t>
            </a:r>
          </a:p>
        </p:txBody>
      </p:sp>
      <p:sp>
        <p:nvSpPr>
          <p:cNvPr id="4" name="Slide Number Placeholder 3"/>
          <p:cNvSpPr>
            <a:spLocks noGrp="1"/>
          </p:cNvSpPr>
          <p:nvPr>
            <p:ph type="sldNum" sz="quarter" idx="5"/>
          </p:nvPr>
        </p:nvSpPr>
        <p:spPr/>
        <p:txBody>
          <a:bodyPr/>
          <a:lstStyle/>
          <a:p>
            <a:fld id="{B105C235-7E9C-46EE-B767-3B81D4CFAF32}" type="slidenum">
              <a:rPr lang="en-US" smtClean="0"/>
              <a:t>19</a:t>
            </a:fld>
            <a:endParaRPr lang="en-US"/>
          </a:p>
        </p:txBody>
      </p:sp>
    </p:spTree>
    <p:extLst>
      <p:ext uri="{BB962C8B-B14F-4D97-AF65-F5344CB8AC3E}">
        <p14:creationId xmlns:p14="http://schemas.microsoft.com/office/powerpoint/2010/main" val="1367814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While design patterns provide a structured way to solve issues and promote best practices, it's crucial to acknowledge that not every design pattern is universally beneficial. The effectiveness of a design pattern can depend on various factors, including the specific context of the application, the problem at hand, and the skills of the development team.</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20</a:t>
            </a:fld>
            <a:endParaRPr lang="en-US"/>
          </a:p>
        </p:txBody>
      </p:sp>
    </p:spTree>
    <p:extLst>
      <p:ext uri="{BB962C8B-B14F-4D97-AF65-F5344CB8AC3E}">
        <p14:creationId xmlns:p14="http://schemas.microsoft.com/office/powerpoint/2010/main" val="2701065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Should be applied judiciously</a:t>
            </a:r>
          </a:p>
          <a:p>
            <a:r>
              <a:rPr lang="en-US" b="0" i="0" dirty="0">
                <a:solidFill>
                  <a:srgbClr val="374151"/>
                </a:solidFill>
                <a:effectLst/>
                <a:latin typeface="Söhne"/>
              </a:rPr>
              <a:t>One key consideration is that design patterns should be applied judiciously, as some patterns may inadvertently introduce complexity and hinder productivity. Overusing or misapplying certain patterns can lead to convoluted code, making the system harder to understand and maintain. This is particularly true when developers choose patterns solely based on theoretical elegance without considering the practical implications for a given project.</a:t>
            </a:r>
            <a:endParaRPr lang="en-US"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21</a:t>
            </a:fld>
            <a:endParaRPr lang="en-US"/>
          </a:p>
        </p:txBody>
      </p:sp>
    </p:spTree>
    <p:extLst>
      <p:ext uri="{BB962C8B-B14F-4D97-AF65-F5344CB8AC3E}">
        <p14:creationId xmlns:p14="http://schemas.microsoft.com/office/powerpoint/2010/main" val="2925195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Appropriateness influenced by nature of software being developed</a:t>
            </a:r>
            <a:endParaRPr lang="en-US" u="none" dirty="0"/>
          </a:p>
          <a:p>
            <a:r>
              <a:rPr lang="en-US" b="0" i="0" dirty="0">
                <a:solidFill>
                  <a:srgbClr val="374151"/>
                </a:solidFill>
                <a:effectLst/>
                <a:latin typeface="Söhne"/>
              </a:rPr>
              <a:t>Additionally, the appropriateness of a design pattern can be influenced by the nature of the software being developed. For instance, patterns suitable for large enterprise applications might not be as beneficial in small-scale projects, where simplicity and agility are often prioritized over elaborate design structures.</a:t>
            </a:r>
            <a:endParaRPr lang="en-US"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22</a:t>
            </a:fld>
            <a:endParaRPr lang="en-US"/>
          </a:p>
        </p:txBody>
      </p:sp>
    </p:spTree>
    <p:extLst>
      <p:ext uri="{BB962C8B-B14F-4D97-AF65-F5344CB8AC3E}">
        <p14:creationId xmlns:p14="http://schemas.microsoft.com/office/powerpoint/2010/main" val="1184461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Essential to carefully evaluate trade-offs</a:t>
            </a:r>
            <a:endParaRPr lang="en-US" u="none" dirty="0"/>
          </a:p>
          <a:p>
            <a:pPr algn="l"/>
            <a:r>
              <a:rPr lang="en-US" b="0" i="0" dirty="0">
                <a:solidFill>
                  <a:srgbClr val="374151"/>
                </a:solidFill>
                <a:effectLst/>
                <a:latin typeface="Söhne"/>
              </a:rPr>
              <a:t>It's essential for developers and teams to carefully evaluate the trade-offs associated with each design pattern. While some patterns can enhance maintainability, scalability, and extensibility, others may introduce unnecessary abstractions and indirection, leading to a steeper learning curve for developers and potential pitfalls in terms of performance.</a:t>
            </a:r>
          </a:p>
        </p:txBody>
      </p:sp>
      <p:sp>
        <p:nvSpPr>
          <p:cNvPr id="4" name="Slide Number Placeholder 3"/>
          <p:cNvSpPr>
            <a:spLocks noGrp="1"/>
          </p:cNvSpPr>
          <p:nvPr>
            <p:ph type="sldNum" sz="quarter" idx="5"/>
          </p:nvPr>
        </p:nvSpPr>
        <p:spPr/>
        <p:txBody>
          <a:bodyPr/>
          <a:lstStyle/>
          <a:p>
            <a:fld id="{B105C235-7E9C-46EE-B767-3B81D4CFAF32}" type="slidenum">
              <a:rPr lang="en-US" smtClean="0"/>
              <a:t>23</a:t>
            </a:fld>
            <a:endParaRPr lang="en-US"/>
          </a:p>
        </p:txBody>
      </p:sp>
    </p:spTree>
    <p:extLst>
      <p:ext uri="{BB962C8B-B14F-4D97-AF65-F5344CB8AC3E}">
        <p14:creationId xmlns:p14="http://schemas.microsoft.com/office/powerpoint/2010/main" val="266344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selection and application of design patterns should be a thoughtful and context-specific process. Developers need to weigh the advantages and disadvantages of each pattern, considering factors such as project size, team expertise, and the specific requirements of the application. This approach helps ensure that design patterns are used as valuable tools to enhance software quality rather than becoming sources of unintended complexity and decreased productivity.</a:t>
            </a:r>
          </a:p>
        </p:txBody>
      </p:sp>
      <p:sp>
        <p:nvSpPr>
          <p:cNvPr id="4" name="Slide Number Placeholder 3"/>
          <p:cNvSpPr>
            <a:spLocks noGrp="1"/>
          </p:cNvSpPr>
          <p:nvPr>
            <p:ph type="sldNum" sz="quarter" idx="5"/>
          </p:nvPr>
        </p:nvSpPr>
        <p:spPr/>
        <p:txBody>
          <a:bodyPr/>
          <a:lstStyle/>
          <a:p>
            <a:fld id="{B105C235-7E9C-46EE-B767-3B81D4CFAF32}" type="slidenum">
              <a:rPr lang="en-US" smtClean="0"/>
              <a:t>24</a:t>
            </a:fld>
            <a:endParaRPr lang="en-US"/>
          </a:p>
        </p:txBody>
      </p:sp>
    </p:spTree>
    <p:extLst>
      <p:ext uri="{BB962C8B-B14F-4D97-AF65-F5344CB8AC3E}">
        <p14:creationId xmlns:p14="http://schemas.microsoft.com/office/powerpoint/2010/main" val="572234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While many design patterns have stood the test of time and are considered best practices, there are some that have earned a reputation for being problematic in certain contexts.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25</a:t>
            </a:fld>
            <a:endParaRPr lang="en-US"/>
          </a:p>
        </p:txBody>
      </p:sp>
    </p:spTree>
    <p:extLst>
      <p:ext uri="{BB962C8B-B14F-4D97-AF65-F5344CB8AC3E}">
        <p14:creationId xmlns:p14="http://schemas.microsoft.com/office/powerpoint/2010/main" val="3391098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Anti-patterns in software design refer to common practices that appear to be helpful but often lead to poor code structure, maintainability, and overall system performance. These patterns may initially seem like reasonable solutions, but they can cause problems in the long run. Recognizing and understanding anti-patterns is crucial for software developers to avoid pitfalls and write more robust and maintainable code.</a:t>
            </a:r>
          </a:p>
          <a:p>
            <a:endParaRPr lang="en-US" b="0" i="0" dirty="0">
              <a:solidFill>
                <a:srgbClr val="374151"/>
              </a:solidFill>
              <a:effectLst/>
              <a:latin typeface="Söhne"/>
            </a:endParaRPr>
          </a:p>
          <a:p>
            <a:pPr marL="171450" indent="-171450">
              <a:buFont typeface="Arial" panose="020B0604020202020204" pitchFamily="34" charset="0"/>
              <a:buChar char="•"/>
            </a:pPr>
            <a:r>
              <a:rPr lang="en-US" b="1" i="0" dirty="0">
                <a:solidFill>
                  <a:srgbClr val="374151"/>
                </a:solidFill>
                <a:effectLst/>
                <a:latin typeface="Söhne"/>
              </a:rPr>
              <a:t>God Object:</a:t>
            </a:r>
            <a:r>
              <a:rPr lang="en-US" b="0" i="0" dirty="0">
                <a:solidFill>
                  <a:srgbClr val="374151"/>
                </a:solidFill>
                <a:effectLst/>
                <a:latin typeface="Söhne"/>
              </a:rPr>
              <a:t> Single class or module that handles too many responsibilities, becoming a monolithic and difficult-to-maintain entity.</a:t>
            </a:r>
          </a:p>
          <a:p>
            <a:pPr marL="171450" indent="-171450">
              <a:buFont typeface="Arial" panose="020B0604020202020204" pitchFamily="34" charset="0"/>
              <a:buChar char="•"/>
            </a:pPr>
            <a:r>
              <a:rPr lang="en-US" b="1" i="0" dirty="0">
                <a:solidFill>
                  <a:srgbClr val="374151"/>
                </a:solidFill>
                <a:effectLst/>
                <a:latin typeface="Söhne"/>
              </a:rPr>
              <a:t>Spaghetti Code:</a:t>
            </a:r>
            <a:r>
              <a:rPr lang="en-US" b="0" i="0" dirty="0">
                <a:solidFill>
                  <a:srgbClr val="374151"/>
                </a:solidFill>
                <a:effectLst/>
                <a:latin typeface="Söhne"/>
              </a:rPr>
              <a:t> Code lacks structure and organization, often due to excessive use of global variables and unstructured control flow.</a:t>
            </a:r>
          </a:p>
          <a:p>
            <a:pPr marL="171450" indent="-171450">
              <a:buFont typeface="Arial" panose="020B0604020202020204" pitchFamily="34" charset="0"/>
              <a:buChar char="•"/>
            </a:pPr>
            <a:r>
              <a:rPr lang="en-US" b="1" i="0" dirty="0">
                <a:solidFill>
                  <a:srgbClr val="374151"/>
                </a:solidFill>
                <a:effectLst/>
                <a:latin typeface="Söhne"/>
              </a:rPr>
              <a:t>Copy-Paste Programming:</a:t>
            </a:r>
            <a:r>
              <a:rPr lang="en-US" b="0" i="0" dirty="0">
                <a:solidFill>
                  <a:srgbClr val="374151"/>
                </a:solidFill>
                <a:effectLst/>
                <a:latin typeface="Söhne"/>
              </a:rPr>
              <a:t> Repeated blocks of code are duplicated across the codebase rather than using functions or modules.</a:t>
            </a:r>
          </a:p>
          <a:p>
            <a:pPr marL="171450" indent="-171450">
              <a:buFont typeface="Arial" panose="020B0604020202020204" pitchFamily="34" charset="0"/>
              <a:buChar char="•"/>
            </a:pPr>
            <a:r>
              <a:rPr lang="en-US" b="1" i="0" dirty="0">
                <a:solidFill>
                  <a:srgbClr val="374151"/>
                </a:solidFill>
                <a:effectLst/>
                <a:latin typeface="Söhne"/>
              </a:rPr>
              <a:t>Magic Number:</a:t>
            </a:r>
            <a:r>
              <a:rPr lang="en-US" b="0" i="0" dirty="0">
                <a:solidFill>
                  <a:srgbClr val="374151"/>
                </a:solidFill>
                <a:effectLst/>
                <a:latin typeface="Söhne"/>
              </a:rPr>
              <a:t> Numeric constants are used directly in the code without explanation, making it unclear what these numbers represent.</a:t>
            </a:r>
          </a:p>
          <a:p>
            <a:pPr marL="171450" indent="-171450">
              <a:buFont typeface="Arial" panose="020B0604020202020204" pitchFamily="34" charset="0"/>
              <a:buChar char="•"/>
            </a:pPr>
            <a:r>
              <a:rPr lang="en-US" b="1" i="0" dirty="0">
                <a:solidFill>
                  <a:srgbClr val="374151"/>
                </a:solidFill>
                <a:effectLst/>
                <a:latin typeface="Söhne"/>
              </a:rPr>
              <a:t>Hard Coding:</a:t>
            </a:r>
            <a:r>
              <a:rPr lang="en-US" b="0" i="0" dirty="0">
                <a:solidFill>
                  <a:srgbClr val="374151"/>
                </a:solidFill>
                <a:effectLst/>
                <a:latin typeface="Söhne"/>
              </a:rPr>
              <a:t> Deprecated or obsolete code remains in the system, often because developers are afraid to remove it due to uncertainty about its impact.</a:t>
            </a:r>
          </a:p>
          <a:p>
            <a:pPr marL="171450" indent="-171450">
              <a:buFont typeface="Arial" panose="020B0604020202020204" pitchFamily="34" charset="0"/>
              <a:buChar char="•"/>
            </a:pPr>
            <a:r>
              <a:rPr lang="en-US" b="1" i="0" dirty="0">
                <a:solidFill>
                  <a:srgbClr val="374151"/>
                </a:solidFill>
                <a:effectLst/>
                <a:latin typeface="Söhne"/>
              </a:rPr>
              <a:t>Lava Flow:</a:t>
            </a:r>
            <a:r>
              <a:rPr lang="en-US" b="0" i="0" dirty="0">
                <a:solidFill>
                  <a:srgbClr val="374151"/>
                </a:solidFill>
                <a:effectLst/>
                <a:latin typeface="Söhne"/>
              </a:rPr>
              <a:t> Deprecated or obsolete code remains in the system, often because developers are afraid to remove it due to uncertainty about its impact.</a:t>
            </a:r>
          </a:p>
          <a:p>
            <a:pPr marL="171450" indent="-171450">
              <a:buFont typeface="Arial" panose="020B0604020202020204" pitchFamily="34" charset="0"/>
              <a:buChar char="•"/>
            </a:pPr>
            <a:r>
              <a:rPr lang="en-US" b="1" i="0" dirty="0">
                <a:solidFill>
                  <a:srgbClr val="374151"/>
                </a:solidFill>
                <a:effectLst/>
                <a:latin typeface="Söhne"/>
              </a:rPr>
              <a:t>Circular Dependency:</a:t>
            </a:r>
            <a:r>
              <a:rPr lang="en-US" b="0" i="0" dirty="0">
                <a:solidFill>
                  <a:srgbClr val="374151"/>
                </a:solidFill>
                <a:effectLst/>
                <a:latin typeface="Söhne"/>
              </a:rPr>
              <a:t> Modules or classes depend on each other in a circular manner.</a:t>
            </a:r>
          </a:p>
          <a:p>
            <a:pPr marL="171450" indent="-171450">
              <a:buFont typeface="Arial" panose="020B0604020202020204" pitchFamily="34" charset="0"/>
              <a:buChar char="•"/>
            </a:pPr>
            <a:r>
              <a:rPr lang="en-US" b="1" i="0" dirty="0">
                <a:solidFill>
                  <a:srgbClr val="374151"/>
                </a:solidFill>
                <a:effectLst/>
                <a:latin typeface="Söhne"/>
              </a:rPr>
              <a:t>Premature Optimization:</a:t>
            </a:r>
            <a:r>
              <a:rPr lang="en-US" b="0" i="0" dirty="0">
                <a:solidFill>
                  <a:srgbClr val="374151"/>
                </a:solidFill>
                <a:effectLst/>
                <a:latin typeface="Söhne"/>
              </a:rPr>
              <a:t> Optimizing code for performance before identifying and addresses actual bottlenecks.</a:t>
            </a:r>
            <a:endParaRPr lang="en-US" b="1" dirty="0"/>
          </a:p>
        </p:txBody>
      </p:sp>
      <p:sp>
        <p:nvSpPr>
          <p:cNvPr id="4" name="Slide Number Placeholder 3"/>
          <p:cNvSpPr>
            <a:spLocks noGrp="1"/>
          </p:cNvSpPr>
          <p:nvPr>
            <p:ph type="sldNum" sz="quarter" idx="5"/>
          </p:nvPr>
        </p:nvSpPr>
        <p:spPr/>
        <p:txBody>
          <a:bodyPr/>
          <a:lstStyle/>
          <a:p>
            <a:fld id="{B105C235-7E9C-46EE-B767-3B81D4CFAF32}" type="slidenum">
              <a:rPr lang="en-US" smtClean="0"/>
              <a:t>26</a:t>
            </a:fld>
            <a:endParaRPr lang="en-US"/>
          </a:p>
        </p:txBody>
      </p:sp>
    </p:spTree>
    <p:extLst>
      <p:ext uri="{BB962C8B-B14F-4D97-AF65-F5344CB8AC3E}">
        <p14:creationId xmlns:p14="http://schemas.microsoft.com/office/powerpoint/2010/main" val="3893928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27</a:t>
            </a:fld>
            <a:endParaRPr lang="en-US"/>
          </a:p>
        </p:txBody>
      </p:sp>
    </p:spTree>
    <p:extLst>
      <p:ext uri="{BB962C8B-B14F-4D97-AF65-F5344CB8AC3E}">
        <p14:creationId xmlns:p14="http://schemas.microsoft.com/office/powerpoint/2010/main" val="3780720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Singleton Pattern is a design pattern that falls under the category of creational patterns. It ensures that a class has only one instance and provides a global point of access to that instance. This pattern is particularly useful when exactly one object is needed to coordinate actions across the system.</a:t>
            </a: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öhne"/>
              </a:rPr>
              <a:t>Here are the key characteristics of the Singleton Pattern:</a:t>
            </a:r>
          </a:p>
        </p:txBody>
      </p:sp>
      <p:sp>
        <p:nvSpPr>
          <p:cNvPr id="4" name="Slide Number Placeholder 3"/>
          <p:cNvSpPr>
            <a:spLocks noGrp="1"/>
          </p:cNvSpPr>
          <p:nvPr>
            <p:ph type="sldNum" sz="quarter" idx="5"/>
          </p:nvPr>
        </p:nvSpPr>
        <p:spPr/>
        <p:txBody>
          <a:bodyPr/>
          <a:lstStyle/>
          <a:p>
            <a:fld id="{B105C235-7E9C-46EE-B767-3B81D4CFAF32}" type="slidenum">
              <a:rPr lang="en-US" smtClean="0"/>
              <a:t>28</a:t>
            </a:fld>
            <a:endParaRPr lang="en-US"/>
          </a:p>
        </p:txBody>
      </p:sp>
    </p:spTree>
    <p:extLst>
      <p:ext uri="{BB962C8B-B14F-4D97-AF65-F5344CB8AC3E}">
        <p14:creationId xmlns:p14="http://schemas.microsoft.com/office/powerpoint/2010/main" val="2982135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Single Instance</a:t>
            </a:r>
            <a:r>
              <a:rPr lang="en-US" b="0" i="0" dirty="0">
                <a:solidFill>
                  <a:srgbClr val="374151"/>
                </a:solidFill>
                <a:effectLst/>
                <a:latin typeface="Söhne"/>
              </a:rPr>
              <a:t>: The Singleton Pattern ensures that a class has only one instance by providing a global point of access to that instance.</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29</a:t>
            </a:fld>
            <a:endParaRPr lang="en-US"/>
          </a:p>
        </p:txBody>
      </p:sp>
    </p:spTree>
    <p:extLst>
      <p:ext uri="{BB962C8B-B14F-4D97-AF65-F5344CB8AC3E}">
        <p14:creationId xmlns:p14="http://schemas.microsoft.com/office/powerpoint/2010/main" val="1252438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Global Access</a:t>
            </a:r>
            <a:r>
              <a:rPr lang="en-US" b="0" i="0" dirty="0">
                <a:solidFill>
                  <a:srgbClr val="374151"/>
                </a:solidFill>
                <a:effectLst/>
                <a:latin typeface="Söhne"/>
              </a:rPr>
              <a:t>: The single instance is globally accessible. This allows other objects to easily access the Singleton instance without having to instantiate it.</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30</a:t>
            </a:fld>
            <a:endParaRPr lang="en-US"/>
          </a:p>
        </p:txBody>
      </p:sp>
    </p:spTree>
    <p:extLst>
      <p:ext uri="{BB962C8B-B14F-4D97-AF65-F5344CB8AC3E}">
        <p14:creationId xmlns:p14="http://schemas.microsoft.com/office/powerpoint/2010/main" val="13189314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Lazy Initialization</a:t>
            </a:r>
            <a:r>
              <a:rPr lang="en-US" b="0" i="0" dirty="0">
                <a:solidFill>
                  <a:srgbClr val="374151"/>
                </a:solidFill>
                <a:effectLst/>
                <a:latin typeface="Söhne"/>
              </a:rPr>
              <a:t>: The Singleton instance is typically created only if it is requested for the first time. This is known as lazy initialization and helps in optimizing resource usage.</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31</a:t>
            </a:fld>
            <a:endParaRPr lang="en-US"/>
          </a:p>
        </p:txBody>
      </p:sp>
    </p:spTree>
    <p:extLst>
      <p:ext uri="{BB962C8B-B14F-4D97-AF65-F5344CB8AC3E}">
        <p14:creationId xmlns:p14="http://schemas.microsoft.com/office/powerpoint/2010/main" val="2503072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Private Constructor</a:t>
            </a:r>
            <a:r>
              <a:rPr lang="en-US" b="0" i="0" dirty="0">
                <a:solidFill>
                  <a:srgbClr val="374151"/>
                </a:solidFill>
                <a:effectLst/>
                <a:latin typeface="Söhne"/>
              </a:rPr>
              <a:t>: The Singleton class has a private constructor to prevent direct instantiation from outside the class. The only way to get an instance of the class is through a static method or property provided by the class itself.</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32</a:t>
            </a:fld>
            <a:endParaRPr lang="en-US"/>
          </a:p>
        </p:txBody>
      </p:sp>
    </p:spTree>
    <p:extLst>
      <p:ext uri="{BB962C8B-B14F-4D97-AF65-F5344CB8AC3E}">
        <p14:creationId xmlns:p14="http://schemas.microsoft.com/office/powerpoint/2010/main" val="26596617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Söhne"/>
              </a:rPr>
              <a:t>Static Instance Method/Property</a:t>
            </a:r>
            <a:r>
              <a:rPr lang="en-US" b="0" i="0" dirty="0">
                <a:solidFill>
                  <a:srgbClr val="374151"/>
                </a:solidFill>
                <a:effectLst/>
                <a:latin typeface="Söhne"/>
              </a:rPr>
              <a:t>: The Singleton class provides a static method or property that returns the instance of the class. This method is usually named something like </a:t>
            </a:r>
            <a:r>
              <a:rPr lang="en-US" dirty="0" err="1"/>
              <a:t>getInstance</a:t>
            </a:r>
            <a:r>
              <a:rPr lang="en-US" dirty="0"/>
              <a:t>()</a:t>
            </a:r>
            <a:r>
              <a:rPr lang="en-US" b="0" i="0" dirty="0">
                <a:solidFill>
                  <a:srgbClr val="374151"/>
                </a:solidFill>
                <a:effectLst/>
                <a:latin typeface="Söhne"/>
              </a:rPr>
              <a:t>.</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33</a:t>
            </a:fld>
            <a:endParaRPr lang="en-US"/>
          </a:p>
        </p:txBody>
      </p:sp>
    </p:spTree>
    <p:extLst>
      <p:ext uri="{BB962C8B-B14F-4D97-AF65-F5344CB8AC3E}">
        <p14:creationId xmlns:p14="http://schemas.microsoft.com/office/powerpoint/2010/main" val="3948086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34</a:t>
            </a:fld>
            <a:endParaRPr lang="en-US"/>
          </a:p>
        </p:txBody>
      </p:sp>
    </p:spTree>
    <p:extLst>
      <p:ext uri="{BB962C8B-B14F-4D97-AF65-F5344CB8AC3E}">
        <p14:creationId xmlns:p14="http://schemas.microsoft.com/office/powerpoint/2010/main" val="327811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Centralized Logging</a:t>
            </a:r>
            <a:endParaRPr lang="en-US" b="0" u="none" dirty="0"/>
          </a:p>
          <a:p>
            <a:r>
              <a:rPr lang="en-US" b="0" i="0" dirty="0">
                <a:solidFill>
                  <a:srgbClr val="374151"/>
                </a:solidFill>
                <a:effectLst/>
                <a:latin typeface="Söhne"/>
              </a:rPr>
              <a:t>The Singleton pattern facilitates the creation of a centralized logging service (</a:t>
            </a:r>
            <a:r>
              <a:rPr lang="en-US" dirty="0"/>
              <a:t>Logger</a:t>
            </a:r>
            <a:r>
              <a:rPr lang="en-US" b="0" i="0" dirty="0">
                <a:solidFill>
                  <a:srgbClr val="374151"/>
                </a:solidFill>
                <a:effectLst/>
                <a:latin typeface="Söhne"/>
              </a:rPr>
              <a:t>). Having a single point of access to the logger can be advantageous in scenarios where consistent and centralized logging is crucial for tracking application events.</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36</a:t>
            </a:fld>
            <a:endParaRPr lang="en-US"/>
          </a:p>
        </p:txBody>
      </p:sp>
    </p:spTree>
    <p:extLst>
      <p:ext uri="{BB962C8B-B14F-4D97-AF65-F5344CB8AC3E}">
        <p14:creationId xmlns:p14="http://schemas.microsoft.com/office/powerpoint/2010/main" val="14572365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Global Access to Logger</a:t>
            </a:r>
            <a:endParaRPr lang="en-US" b="0" u="none" dirty="0"/>
          </a:p>
          <a:p>
            <a:r>
              <a:rPr lang="en-US" b="0" i="0" dirty="0">
                <a:solidFill>
                  <a:srgbClr val="374151"/>
                </a:solidFill>
                <a:effectLst/>
                <a:latin typeface="Söhne"/>
              </a:rPr>
              <a:t>The Singleton pattern provides global access to the </a:t>
            </a:r>
            <a:r>
              <a:rPr lang="en-US" dirty="0"/>
              <a:t>Logger</a:t>
            </a:r>
            <a:r>
              <a:rPr lang="en-US" b="0" i="0" dirty="0">
                <a:solidFill>
                  <a:srgbClr val="374151"/>
                </a:solidFill>
                <a:effectLst/>
                <a:latin typeface="Söhne"/>
              </a:rPr>
              <a:t> instance through the </a:t>
            </a:r>
            <a:r>
              <a:rPr lang="en-US" dirty="0" err="1"/>
              <a:t>GetInstance</a:t>
            </a:r>
            <a:r>
              <a:rPr lang="en-US" b="0" i="0" dirty="0">
                <a:solidFill>
                  <a:srgbClr val="374151"/>
                </a:solidFill>
                <a:effectLst/>
                <a:latin typeface="Söhne"/>
              </a:rPr>
              <a:t> method. This makes it easy for different parts of the application to log messages without passing logger instances around, which can simplify the code in certain scenarios.</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37</a:t>
            </a:fld>
            <a:endParaRPr lang="en-US"/>
          </a:p>
        </p:txBody>
      </p:sp>
    </p:spTree>
    <p:extLst>
      <p:ext uri="{BB962C8B-B14F-4D97-AF65-F5344CB8AC3E}">
        <p14:creationId xmlns:p14="http://schemas.microsoft.com/office/powerpoint/2010/main" val="1899491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Lazy Initialization</a:t>
            </a:r>
            <a:endParaRPr lang="en-US" b="0" u="none" dirty="0"/>
          </a:p>
          <a:p>
            <a:r>
              <a:rPr lang="en-US" b="0" i="0" dirty="0">
                <a:solidFill>
                  <a:srgbClr val="374151"/>
                </a:solidFill>
                <a:effectLst/>
                <a:latin typeface="Söhne"/>
              </a:rPr>
              <a:t>The lazy initialization in the </a:t>
            </a:r>
            <a:r>
              <a:rPr lang="en-US" dirty="0" err="1"/>
              <a:t>GetInstance</a:t>
            </a:r>
            <a:r>
              <a:rPr lang="en-US" b="0" i="0" dirty="0">
                <a:solidFill>
                  <a:srgbClr val="374151"/>
                </a:solidFill>
                <a:effectLst/>
                <a:latin typeface="Söhne"/>
              </a:rPr>
              <a:t> method ensures that the </a:t>
            </a:r>
            <a:r>
              <a:rPr lang="en-US" dirty="0"/>
              <a:t>Logger</a:t>
            </a:r>
            <a:r>
              <a:rPr lang="en-US" b="0" i="0" dirty="0">
                <a:solidFill>
                  <a:srgbClr val="374151"/>
                </a:solidFill>
                <a:effectLst/>
                <a:latin typeface="Söhne"/>
              </a:rPr>
              <a:t> instance is created only when it is first requested. This can be beneficial for performance, especially in scenarios where the logger might not be needed throughout the entire execution of the program.</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38</a:t>
            </a:fld>
            <a:endParaRPr lang="en-US"/>
          </a:p>
        </p:txBody>
      </p:sp>
    </p:spTree>
    <p:extLst>
      <p:ext uri="{BB962C8B-B14F-4D97-AF65-F5344CB8AC3E}">
        <p14:creationId xmlns:p14="http://schemas.microsoft.com/office/powerpoint/2010/main" val="41994395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Singleton Instance Reusability</a:t>
            </a:r>
            <a:endParaRPr lang="en-US" b="0" u="none" dirty="0"/>
          </a:p>
          <a:p>
            <a:r>
              <a:rPr lang="en-US" b="0" i="0" dirty="0">
                <a:solidFill>
                  <a:srgbClr val="374151"/>
                </a:solidFill>
                <a:effectLst/>
                <a:latin typeface="Söhne"/>
              </a:rPr>
              <a:t>The Singleton pattern ensures that there is only one instance of the </a:t>
            </a:r>
            <a:r>
              <a:rPr lang="en-US" dirty="0"/>
              <a:t>Logger</a:t>
            </a:r>
            <a:r>
              <a:rPr lang="en-US" b="0" i="0" dirty="0">
                <a:solidFill>
                  <a:srgbClr val="374151"/>
                </a:solidFill>
                <a:effectLst/>
                <a:latin typeface="Söhne"/>
              </a:rPr>
              <a:t> throughout the application's lifecycle. This can be advantageous when multiple components need to log messages, as they can all use the same logger instance.</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39</a:t>
            </a:fld>
            <a:endParaRPr lang="en-US"/>
          </a:p>
        </p:txBody>
      </p:sp>
    </p:spTree>
    <p:extLst>
      <p:ext uri="{BB962C8B-B14F-4D97-AF65-F5344CB8AC3E}">
        <p14:creationId xmlns:p14="http://schemas.microsoft.com/office/powerpoint/2010/main" val="4922694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Straightforward Usage in Main</a:t>
            </a:r>
            <a:endParaRPr lang="en-US" b="0" u="none" dirty="0"/>
          </a:p>
          <a:p>
            <a:r>
              <a:rPr lang="en-US" b="0" i="0" dirty="0">
                <a:solidFill>
                  <a:srgbClr val="374151"/>
                </a:solidFill>
                <a:effectLst/>
                <a:latin typeface="Söhne"/>
              </a:rPr>
              <a:t>The usage of the </a:t>
            </a:r>
            <a:r>
              <a:rPr lang="en-US" dirty="0"/>
              <a:t>Logger</a:t>
            </a:r>
            <a:r>
              <a:rPr lang="en-US" b="0" i="0" dirty="0">
                <a:solidFill>
                  <a:srgbClr val="374151"/>
                </a:solidFill>
                <a:effectLst/>
                <a:latin typeface="Söhne"/>
              </a:rPr>
              <a:t> in the </a:t>
            </a:r>
            <a:r>
              <a:rPr lang="en-US" dirty="0"/>
              <a:t>Main</a:t>
            </a:r>
            <a:r>
              <a:rPr lang="en-US" b="0" i="0" dirty="0">
                <a:solidFill>
                  <a:srgbClr val="374151"/>
                </a:solidFill>
                <a:effectLst/>
                <a:latin typeface="Söhne"/>
              </a:rPr>
              <a:t> method of the </a:t>
            </a:r>
            <a:r>
              <a:rPr lang="en-US" dirty="0"/>
              <a:t>Program</a:t>
            </a:r>
            <a:r>
              <a:rPr lang="en-US" b="0" i="0" dirty="0">
                <a:solidFill>
                  <a:srgbClr val="374151"/>
                </a:solidFill>
                <a:effectLst/>
                <a:latin typeface="Söhne"/>
              </a:rPr>
              <a:t> class is straightforward. It demonstrates how the Singleton pattern allows different parts of the application to use the same logger instance without explicitly passing it as a parameter.</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40</a:t>
            </a:fld>
            <a:endParaRPr lang="en-US"/>
          </a:p>
        </p:txBody>
      </p:sp>
    </p:spTree>
    <p:extLst>
      <p:ext uri="{BB962C8B-B14F-4D97-AF65-F5344CB8AC3E}">
        <p14:creationId xmlns:p14="http://schemas.microsoft.com/office/powerpoint/2010/main" val="40683098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Simple Initialization in Services</a:t>
            </a:r>
            <a:endParaRPr lang="en-US" b="0" u="none" dirty="0"/>
          </a:p>
          <a:p>
            <a:r>
              <a:rPr lang="en-US" b="0" i="0" dirty="0">
                <a:solidFill>
                  <a:srgbClr val="374151"/>
                </a:solidFill>
                <a:effectLst/>
                <a:latin typeface="Söhne"/>
              </a:rPr>
              <a:t>The initialization of the </a:t>
            </a:r>
            <a:r>
              <a:rPr lang="en-US" dirty="0"/>
              <a:t>Logger</a:t>
            </a:r>
            <a:r>
              <a:rPr lang="en-US" b="0" i="0" dirty="0">
                <a:solidFill>
                  <a:srgbClr val="374151"/>
                </a:solidFill>
                <a:effectLst/>
                <a:latin typeface="Söhne"/>
              </a:rPr>
              <a:t> in the </a:t>
            </a:r>
            <a:r>
              <a:rPr lang="en-US" dirty="0" err="1"/>
              <a:t>UserService</a:t>
            </a:r>
            <a:r>
              <a:rPr lang="en-US" b="0" i="0" dirty="0">
                <a:solidFill>
                  <a:srgbClr val="374151"/>
                </a:solidFill>
                <a:effectLst/>
                <a:latin typeface="Söhne"/>
              </a:rPr>
              <a:t> class is simple and concise. By obtaining the logger instance through </a:t>
            </a:r>
            <a:r>
              <a:rPr lang="en-US" dirty="0" err="1"/>
              <a:t>Logger.GetInstance</a:t>
            </a:r>
            <a:r>
              <a:rPr lang="en-US" dirty="0"/>
              <a:t>()</a:t>
            </a:r>
            <a:r>
              <a:rPr lang="en-US" b="0" i="0" dirty="0">
                <a:solidFill>
                  <a:srgbClr val="374151"/>
                </a:solidFill>
                <a:effectLst/>
                <a:latin typeface="Söhne"/>
              </a:rPr>
              <a:t>, the service can easily incorporate logging without having to worry about creating or managing the logger instance explicitly.</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41</a:t>
            </a:fld>
            <a:endParaRPr lang="en-US"/>
          </a:p>
        </p:txBody>
      </p:sp>
    </p:spTree>
    <p:extLst>
      <p:ext uri="{BB962C8B-B14F-4D97-AF65-F5344CB8AC3E}">
        <p14:creationId xmlns:p14="http://schemas.microsoft.com/office/powerpoint/2010/main" val="12970877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While these points highlight some advantages, it's crucial to consider the specific context and requirements of the application. The Singleton pattern can be suitable for certain scenarios, such as centralized logging, but it should be used judiciously to avoid potential drawbacks.</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42</a:t>
            </a:fld>
            <a:endParaRPr lang="en-US"/>
          </a:p>
        </p:txBody>
      </p:sp>
    </p:spTree>
    <p:extLst>
      <p:ext uri="{BB962C8B-B14F-4D97-AF65-F5344CB8AC3E}">
        <p14:creationId xmlns:p14="http://schemas.microsoft.com/office/powerpoint/2010/main" val="9480735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Global State Issues</a:t>
            </a:r>
            <a:endParaRPr lang="en-US" b="0" u="none" dirty="0"/>
          </a:p>
          <a:p>
            <a:r>
              <a:rPr lang="en-US" b="0" i="0" dirty="0">
                <a:solidFill>
                  <a:srgbClr val="374151"/>
                </a:solidFill>
                <a:effectLst/>
                <a:latin typeface="Söhne"/>
              </a:rPr>
              <a:t>The </a:t>
            </a:r>
            <a:r>
              <a:rPr lang="en-US" dirty="0"/>
              <a:t>Logger</a:t>
            </a:r>
            <a:r>
              <a:rPr lang="en-US" b="0" i="0" dirty="0">
                <a:solidFill>
                  <a:srgbClr val="374151"/>
                </a:solidFill>
                <a:effectLst/>
                <a:latin typeface="Söhne"/>
              </a:rPr>
              <a:t> class is a Singleton, meaning there is a single global instance (</a:t>
            </a:r>
            <a:r>
              <a:rPr lang="en-US" dirty="0"/>
              <a:t>instance</a:t>
            </a:r>
            <a:r>
              <a:rPr lang="en-US" b="0" i="0" dirty="0">
                <a:solidFill>
                  <a:srgbClr val="374151"/>
                </a:solidFill>
                <a:effectLst/>
                <a:latin typeface="Söhne"/>
              </a:rPr>
              <a:t>). Any part of the code can access this instance, leading to potential global state issues. Global state can make it challenging to reason about the flow of data and behavior in the application.</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43</a:t>
            </a:fld>
            <a:endParaRPr lang="en-US"/>
          </a:p>
        </p:txBody>
      </p:sp>
    </p:spTree>
    <p:extLst>
      <p:ext uri="{BB962C8B-B14F-4D97-AF65-F5344CB8AC3E}">
        <p14:creationId xmlns:p14="http://schemas.microsoft.com/office/powerpoint/2010/main" val="2704601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Tight Coupling</a:t>
            </a:r>
            <a:endParaRPr lang="en-US" b="0" u="none" dirty="0"/>
          </a:p>
          <a:p>
            <a:r>
              <a:rPr lang="en-US" b="0" i="0" dirty="0">
                <a:solidFill>
                  <a:srgbClr val="374151"/>
                </a:solidFill>
                <a:effectLst/>
                <a:latin typeface="Söhne"/>
              </a:rPr>
              <a:t>Both the </a:t>
            </a:r>
            <a:r>
              <a:rPr lang="en-US" dirty="0"/>
              <a:t>Logger</a:t>
            </a:r>
            <a:r>
              <a:rPr lang="en-US" b="0" i="0" dirty="0">
                <a:solidFill>
                  <a:srgbClr val="374151"/>
                </a:solidFill>
                <a:effectLst/>
                <a:latin typeface="Söhne"/>
              </a:rPr>
              <a:t> class and the </a:t>
            </a:r>
            <a:r>
              <a:rPr lang="en-US" dirty="0" err="1"/>
              <a:t>UserService</a:t>
            </a:r>
            <a:r>
              <a:rPr lang="en-US" b="0" i="0" dirty="0">
                <a:solidFill>
                  <a:srgbClr val="374151"/>
                </a:solidFill>
                <a:effectLst/>
                <a:latin typeface="Söhne"/>
              </a:rPr>
              <a:t> class are tightly coupled. The </a:t>
            </a:r>
            <a:r>
              <a:rPr lang="en-US" dirty="0" err="1"/>
              <a:t>UserService</a:t>
            </a:r>
            <a:r>
              <a:rPr lang="en-US" b="0" i="0" dirty="0">
                <a:solidFill>
                  <a:srgbClr val="374151"/>
                </a:solidFill>
                <a:effectLst/>
                <a:latin typeface="Söhne"/>
              </a:rPr>
              <a:t> directly depends on the </a:t>
            </a:r>
            <a:r>
              <a:rPr lang="en-US" dirty="0"/>
              <a:t>Logger</a:t>
            </a:r>
            <a:r>
              <a:rPr lang="en-US" b="0" i="0" dirty="0">
                <a:solidFill>
                  <a:srgbClr val="374151"/>
                </a:solidFill>
                <a:effectLst/>
                <a:latin typeface="Söhne"/>
              </a:rPr>
              <a:t> Singleton, which can make it challenging to modify or extend the code without affecting multiple components. Tight coupling reduces code flexibility and maintainability.</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44</a:t>
            </a:fld>
            <a:endParaRPr lang="en-US"/>
          </a:p>
        </p:txBody>
      </p:sp>
    </p:spTree>
    <p:extLst>
      <p:ext uri="{BB962C8B-B14F-4D97-AF65-F5344CB8AC3E}">
        <p14:creationId xmlns:p14="http://schemas.microsoft.com/office/powerpoint/2010/main" val="29330623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Testing Challenges</a:t>
            </a:r>
            <a:endParaRPr lang="en-US" b="0" u="none" dirty="0"/>
          </a:p>
          <a:p>
            <a:r>
              <a:rPr lang="en-US" b="0" i="0" dirty="0">
                <a:solidFill>
                  <a:srgbClr val="374151"/>
                </a:solidFill>
                <a:effectLst/>
                <a:latin typeface="Söhne"/>
              </a:rPr>
              <a:t>Testing the </a:t>
            </a:r>
            <a:r>
              <a:rPr lang="en-US" dirty="0" err="1"/>
              <a:t>UserService</a:t>
            </a:r>
            <a:r>
              <a:rPr lang="en-US" b="0" i="0" dirty="0">
                <a:solidFill>
                  <a:srgbClr val="374151"/>
                </a:solidFill>
                <a:effectLst/>
                <a:latin typeface="Söhne"/>
              </a:rPr>
              <a:t> in isolation becomes difficult because it is tightly coupled to the </a:t>
            </a:r>
            <a:r>
              <a:rPr lang="en-US" dirty="0"/>
              <a:t>Logger</a:t>
            </a:r>
            <a:r>
              <a:rPr lang="en-US" b="0" i="0" dirty="0">
                <a:solidFill>
                  <a:srgbClr val="374151"/>
                </a:solidFill>
                <a:effectLst/>
                <a:latin typeface="Söhne"/>
              </a:rPr>
              <a:t> Singleton. Unit tests for </a:t>
            </a:r>
            <a:r>
              <a:rPr lang="en-US" dirty="0" err="1"/>
              <a:t>UserService</a:t>
            </a:r>
            <a:r>
              <a:rPr lang="en-US" b="0" i="0" dirty="0">
                <a:solidFill>
                  <a:srgbClr val="374151"/>
                </a:solidFill>
                <a:effectLst/>
                <a:latin typeface="Söhne"/>
              </a:rPr>
              <a:t> may be dependent on the behavior of the global </a:t>
            </a:r>
            <a:r>
              <a:rPr lang="en-US" dirty="0"/>
              <a:t>Logger</a:t>
            </a:r>
            <a:r>
              <a:rPr lang="en-US" b="0" i="0" dirty="0">
                <a:solidFill>
                  <a:srgbClr val="374151"/>
                </a:solidFill>
                <a:effectLst/>
                <a:latin typeface="Söhne"/>
              </a:rPr>
              <a:t> instance, making it harder to write independent, isolated tests.</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45</a:t>
            </a:fld>
            <a:endParaRPr lang="en-US"/>
          </a:p>
        </p:txBody>
      </p:sp>
    </p:spTree>
    <p:extLst>
      <p:ext uri="{BB962C8B-B14F-4D97-AF65-F5344CB8AC3E}">
        <p14:creationId xmlns:p14="http://schemas.microsoft.com/office/powerpoint/2010/main" val="38027511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Hidden Dependencies</a:t>
            </a:r>
            <a:endParaRPr lang="en-US" b="0" u="none" dirty="0"/>
          </a:p>
          <a:p>
            <a:r>
              <a:rPr lang="en-US" b="0" i="0" dirty="0">
                <a:solidFill>
                  <a:srgbClr val="374151"/>
                </a:solidFill>
                <a:effectLst/>
                <a:latin typeface="Söhne"/>
              </a:rPr>
              <a:t>The </a:t>
            </a:r>
            <a:r>
              <a:rPr lang="en-US" dirty="0" err="1"/>
              <a:t>UserService</a:t>
            </a:r>
            <a:r>
              <a:rPr lang="en-US" b="0" i="0" dirty="0">
                <a:solidFill>
                  <a:srgbClr val="374151"/>
                </a:solidFill>
                <a:effectLst/>
                <a:latin typeface="Söhne"/>
              </a:rPr>
              <a:t> class hides its dependency on the </a:t>
            </a:r>
            <a:r>
              <a:rPr lang="en-US" dirty="0"/>
              <a:t>Logger</a:t>
            </a:r>
            <a:r>
              <a:rPr lang="en-US" b="0" i="0" dirty="0">
                <a:solidFill>
                  <a:srgbClr val="374151"/>
                </a:solidFill>
                <a:effectLst/>
                <a:latin typeface="Söhne"/>
              </a:rPr>
              <a:t> by creating an instance within its constructor (</a:t>
            </a:r>
            <a:r>
              <a:rPr lang="en-US" dirty="0" err="1"/>
              <a:t>this.logger</a:t>
            </a:r>
            <a:r>
              <a:rPr lang="en-US" dirty="0"/>
              <a:t> = </a:t>
            </a:r>
            <a:r>
              <a:rPr lang="en-US" dirty="0" err="1"/>
              <a:t>Logger.GetInstance</a:t>
            </a:r>
            <a:r>
              <a:rPr lang="en-US" dirty="0"/>
              <a:t>();</a:t>
            </a:r>
            <a:r>
              <a:rPr lang="en-US" b="0" i="0" dirty="0">
                <a:solidFill>
                  <a:srgbClr val="374151"/>
                </a:solidFill>
                <a:effectLst/>
                <a:latin typeface="Söhne"/>
              </a:rPr>
              <a:t>). This makes it less obvious and can lead to unexpected behavior if someone is not aware of the hidden dependency.</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46</a:t>
            </a:fld>
            <a:endParaRPr lang="en-US"/>
          </a:p>
        </p:txBody>
      </p:sp>
    </p:spTree>
    <p:extLst>
      <p:ext uri="{BB962C8B-B14F-4D97-AF65-F5344CB8AC3E}">
        <p14:creationId xmlns:p14="http://schemas.microsoft.com/office/powerpoint/2010/main" val="40723984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Inflexible Initialization</a:t>
            </a:r>
            <a:endParaRPr lang="en-US" b="0" u="none" dirty="0"/>
          </a:p>
          <a:p>
            <a:r>
              <a:rPr lang="en-US" b="0" i="0" dirty="0">
                <a:solidFill>
                  <a:srgbClr val="374151"/>
                </a:solidFill>
                <a:effectLst/>
                <a:latin typeface="Söhne"/>
              </a:rPr>
              <a:t>The Singleton pattern is implemented with lazy initialization, but it lacks flexibility in terms of initialization options. For instance, if you later need to provide some configuration to the </a:t>
            </a:r>
            <a:r>
              <a:rPr lang="en-US" dirty="0"/>
              <a:t>Logger</a:t>
            </a:r>
            <a:r>
              <a:rPr lang="en-US" b="0" i="0" dirty="0">
                <a:solidFill>
                  <a:srgbClr val="374151"/>
                </a:solidFill>
                <a:effectLst/>
                <a:latin typeface="Söhne"/>
              </a:rPr>
              <a:t>, the current implementation doesn't support that without modifying the Singleton itself.</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47</a:t>
            </a:fld>
            <a:endParaRPr lang="en-US"/>
          </a:p>
        </p:txBody>
      </p:sp>
    </p:spTree>
    <p:extLst>
      <p:ext uri="{BB962C8B-B14F-4D97-AF65-F5344CB8AC3E}">
        <p14:creationId xmlns:p14="http://schemas.microsoft.com/office/powerpoint/2010/main" val="36812894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Non-Thread Safe Initialization</a:t>
            </a:r>
            <a:endParaRPr lang="en-US" b="0" u="none" dirty="0"/>
          </a:p>
          <a:p>
            <a:r>
              <a:rPr lang="en-US" b="0" i="0" dirty="0">
                <a:solidFill>
                  <a:srgbClr val="374151"/>
                </a:solidFill>
                <a:effectLst/>
                <a:latin typeface="Söhne"/>
              </a:rPr>
              <a:t>The Singleton pattern is implemented with lazy initialization, but it lacks flexibility in terms of initialization options. For instance, if you later need to provide some configuration to the </a:t>
            </a:r>
            <a:r>
              <a:rPr lang="en-US" dirty="0"/>
              <a:t>Logger</a:t>
            </a:r>
            <a:r>
              <a:rPr lang="en-US" b="0" i="0" dirty="0">
                <a:solidFill>
                  <a:srgbClr val="374151"/>
                </a:solidFill>
                <a:effectLst/>
                <a:latin typeface="Söhne"/>
              </a:rPr>
              <a:t>, the current implementation doesn't support that without modifying the Singleton itself.</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48</a:t>
            </a:fld>
            <a:endParaRPr lang="en-US"/>
          </a:p>
        </p:txBody>
      </p:sp>
    </p:spTree>
    <p:extLst>
      <p:ext uri="{BB962C8B-B14F-4D97-AF65-F5344CB8AC3E}">
        <p14:creationId xmlns:p14="http://schemas.microsoft.com/office/powerpoint/2010/main" val="28199675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Potential for Misuse</a:t>
            </a:r>
            <a:endParaRPr lang="en-US" b="0" u="none" dirty="0"/>
          </a:p>
          <a:p>
            <a:r>
              <a:rPr lang="en-US" b="0" i="0" dirty="0">
                <a:solidFill>
                  <a:srgbClr val="374151"/>
                </a:solidFill>
                <a:effectLst/>
                <a:latin typeface="Söhne"/>
              </a:rPr>
              <a:t>While the </a:t>
            </a:r>
            <a:r>
              <a:rPr lang="en-US" dirty="0"/>
              <a:t>Logger</a:t>
            </a:r>
            <a:r>
              <a:rPr lang="en-US" b="0" i="0" dirty="0">
                <a:solidFill>
                  <a:srgbClr val="374151"/>
                </a:solidFill>
                <a:effectLst/>
                <a:latin typeface="Söhne"/>
              </a:rPr>
              <a:t> Singleton might be appropriate for logging purposes, the Singleton pattern itself might be misused if applied indiscriminately throughout the codebase. Introducing global state unnecessarily can complicate the code and make it less modular.</a:t>
            </a:r>
            <a:endParaRPr lang="en-US" b="1" u="sng" dirty="0"/>
          </a:p>
        </p:txBody>
      </p:sp>
      <p:sp>
        <p:nvSpPr>
          <p:cNvPr id="4" name="Slide Number Placeholder 3"/>
          <p:cNvSpPr>
            <a:spLocks noGrp="1"/>
          </p:cNvSpPr>
          <p:nvPr>
            <p:ph type="sldNum" sz="quarter" idx="5"/>
          </p:nvPr>
        </p:nvSpPr>
        <p:spPr/>
        <p:txBody>
          <a:bodyPr/>
          <a:lstStyle/>
          <a:p>
            <a:fld id="{B105C235-7E9C-46EE-B767-3B81D4CFAF32}" type="slidenum">
              <a:rPr lang="en-US" smtClean="0"/>
              <a:t>49</a:t>
            </a:fld>
            <a:endParaRPr lang="en-US"/>
          </a:p>
        </p:txBody>
      </p:sp>
    </p:spTree>
    <p:extLst>
      <p:ext uri="{BB962C8B-B14F-4D97-AF65-F5344CB8AC3E}">
        <p14:creationId xmlns:p14="http://schemas.microsoft.com/office/powerpoint/2010/main" val="82432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summary, while the Singleton pattern can have valid use cases, it's crucial to carefully evaluate its necessity and potential drawbacks. In this example, the Singleton pattern is applied in a way that introduces global state, tight coupling, and testing challenges, making the code less maintainable and flexible. Consider alternative design patterns and practices, such as </a:t>
            </a:r>
            <a:r>
              <a:rPr lang="en-US" b="1" i="1" dirty="0">
                <a:solidFill>
                  <a:srgbClr val="374151"/>
                </a:solidFill>
                <a:effectLst/>
                <a:latin typeface="Söhne"/>
              </a:rPr>
              <a:t>dependency injection</a:t>
            </a:r>
            <a:r>
              <a:rPr lang="en-US" b="0" i="0" dirty="0">
                <a:solidFill>
                  <a:srgbClr val="374151"/>
                </a:solidFill>
                <a:effectLst/>
                <a:latin typeface="Söhne"/>
              </a:rPr>
              <a:t>, to achieve more modular and maintainable code.</a:t>
            </a:r>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50</a:t>
            </a:fld>
            <a:endParaRPr lang="en-US"/>
          </a:p>
        </p:txBody>
      </p:sp>
    </p:spTree>
    <p:extLst>
      <p:ext uri="{BB962C8B-B14F-4D97-AF65-F5344CB8AC3E}">
        <p14:creationId xmlns:p14="http://schemas.microsoft.com/office/powerpoint/2010/main" val="11865702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74151"/>
                </a:solidFill>
                <a:effectLst/>
                <a:latin typeface="Söhne"/>
              </a:rPr>
              <a:t>Issue:</a:t>
            </a:r>
            <a:r>
              <a:rPr lang="en-US" b="0" i="0" dirty="0">
                <a:solidFill>
                  <a:srgbClr val="374151"/>
                </a:solidFill>
                <a:effectLst/>
                <a:latin typeface="Söhne"/>
              </a:rPr>
              <a:t> The Observer pattern establishes a one-to-many dependency between objects so that when one object changes state, all its dependents are notified and updated automatically. Yet, the pattern can lead to performance issues when there are numerous observers or frequent state changes.</a:t>
            </a:r>
          </a:p>
          <a:p>
            <a:pPr algn="l">
              <a:buFont typeface="Arial" panose="020B0604020202020204" pitchFamily="34" charset="0"/>
              <a:buChar char="•"/>
            </a:pPr>
            <a:r>
              <a:rPr lang="en-US" b="1" i="0" dirty="0">
                <a:solidFill>
                  <a:srgbClr val="374151"/>
                </a:solidFill>
                <a:effectLst/>
                <a:latin typeface="Söhne"/>
              </a:rPr>
              <a:t>Challenge:</a:t>
            </a:r>
            <a:r>
              <a:rPr lang="en-US" b="0" i="0" dirty="0">
                <a:solidFill>
                  <a:srgbClr val="374151"/>
                </a:solidFill>
                <a:effectLst/>
                <a:latin typeface="Söhne"/>
              </a:rPr>
              <a:t> In situations with a large number of observers or high-frequency state changes, the Observer pattern may result in performance bottlenecks.</a:t>
            </a: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51</a:t>
            </a:fld>
            <a:endParaRPr lang="en-US"/>
          </a:p>
        </p:txBody>
      </p:sp>
    </p:spTree>
    <p:extLst>
      <p:ext uri="{BB962C8B-B14F-4D97-AF65-F5344CB8AC3E}">
        <p14:creationId xmlns:p14="http://schemas.microsoft.com/office/powerpoint/2010/main" val="28900885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74151"/>
                </a:solidFill>
                <a:effectLst/>
                <a:latin typeface="Söhne"/>
              </a:rPr>
              <a:t>Issue:</a:t>
            </a:r>
            <a:r>
              <a:rPr lang="en-US" b="0" i="0" dirty="0">
                <a:solidFill>
                  <a:srgbClr val="374151"/>
                </a:solidFill>
                <a:effectLst/>
                <a:latin typeface="Söhne"/>
              </a:rPr>
              <a:t> The Factory pattern is used to create objects without specifying the exact class of the object that will be created. However, in some cases, the Factory pattern can lead to a proliferation of factory classes, making the codebase harder to understand and maintain.</a:t>
            </a:r>
          </a:p>
          <a:p>
            <a:pPr algn="l">
              <a:buFont typeface="Arial" panose="020B0604020202020204" pitchFamily="34" charset="0"/>
              <a:buChar char="•"/>
            </a:pPr>
            <a:r>
              <a:rPr lang="en-US" b="1" i="0" dirty="0">
                <a:solidFill>
                  <a:srgbClr val="374151"/>
                </a:solidFill>
                <a:effectLst/>
                <a:latin typeface="Söhne"/>
              </a:rPr>
              <a:t>Challenge:</a:t>
            </a:r>
            <a:r>
              <a:rPr lang="en-US" b="0" i="0" dirty="0">
                <a:solidFill>
                  <a:srgbClr val="374151"/>
                </a:solidFill>
                <a:effectLst/>
                <a:latin typeface="Söhne"/>
              </a:rPr>
              <a:t> Excessive use of the Factory pattern can introduce unnecessary complexity and make debugging more challenging.</a:t>
            </a: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52</a:t>
            </a:fld>
            <a:endParaRPr lang="en-US"/>
          </a:p>
        </p:txBody>
      </p:sp>
    </p:spTree>
    <p:extLst>
      <p:ext uri="{BB962C8B-B14F-4D97-AF65-F5344CB8AC3E}">
        <p14:creationId xmlns:p14="http://schemas.microsoft.com/office/powerpoint/2010/main" val="25468635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74151"/>
                </a:solidFill>
                <a:effectLst/>
                <a:latin typeface="Söhne"/>
              </a:rPr>
              <a:t>Issue:</a:t>
            </a:r>
            <a:r>
              <a:rPr lang="en-US" b="0" i="0" dirty="0">
                <a:solidFill>
                  <a:srgbClr val="374151"/>
                </a:solidFill>
                <a:effectLst/>
                <a:latin typeface="Söhne"/>
              </a:rPr>
              <a:t> The Abstract Factory pattern provides an interface for creating families of related or dependent objects without specifying their concrete classes. Yet, in scenarios where there are frequent additions or modifications to the product families, maintaining the abstract factory and its implementations can become cumbersome.</a:t>
            </a:r>
          </a:p>
          <a:p>
            <a:pPr algn="l">
              <a:buFont typeface="Arial" panose="020B0604020202020204" pitchFamily="34" charset="0"/>
              <a:buChar char="•"/>
            </a:pPr>
            <a:r>
              <a:rPr lang="en-US" b="1" i="0" dirty="0">
                <a:solidFill>
                  <a:srgbClr val="374151"/>
                </a:solidFill>
                <a:effectLst/>
                <a:latin typeface="Söhne"/>
              </a:rPr>
              <a:t>Challenge:</a:t>
            </a:r>
            <a:r>
              <a:rPr lang="en-US" b="0" i="0" dirty="0">
                <a:solidFill>
                  <a:srgbClr val="374151"/>
                </a:solidFill>
                <a:effectLst/>
                <a:latin typeface="Söhne"/>
              </a:rPr>
              <a:t> The Abstract Factory pattern might be overkill when the number of product families or their variations is limited, leading to unnecessary complexity.</a:t>
            </a: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53</a:t>
            </a:fld>
            <a:endParaRPr lang="en-US"/>
          </a:p>
        </p:txBody>
      </p:sp>
    </p:spTree>
    <p:extLst>
      <p:ext uri="{BB962C8B-B14F-4D97-AF65-F5344CB8AC3E}">
        <p14:creationId xmlns:p14="http://schemas.microsoft.com/office/powerpoint/2010/main" val="24690099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74151"/>
                </a:solidFill>
                <a:effectLst/>
                <a:latin typeface="Söhne"/>
              </a:rPr>
              <a:t>Issue:</a:t>
            </a:r>
            <a:r>
              <a:rPr lang="en-US" b="0" i="0" dirty="0">
                <a:solidFill>
                  <a:srgbClr val="374151"/>
                </a:solidFill>
                <a:effectLst/>
                <a:latin typeface="Söhne"/>
              </a:rPr>
              <a:t> The Template Method pattern defines the skeleton of an algorithm in the superclass but lets subclasses override specific steps of the algorithm without changing its structure. However, in cases where there is a need for a more dynamic and runtime-alterable algorithm, the Template Method pattern can limit flexibility.</a:t>
            </a:r>
          </a:p>
          <a:p>
            <a:pPr algn="l">
              <a:buFont typeface="Arial" panose="020B0604020202020204" pitchFamily="34" charset="0"/>
              <a:buChar char="•"/>
            </a:pPr>
            <a:r>
              <a:rPr lang="en-US" b="1" i="0" dirty="0">
                <a:solidFill>
                  <a:srgbClr val="374151"/>
                </a:solidFill>
                <a:effectLst/>
                <a:latin typeface="Söhne"/>
              </a:rPr>
              <a:t>Challenge:</a:t>
            </a:r>
            <a:r>
              <a:rPr lang="en-US" b="0" i="0" dirty="0">
                <a:solidFill>
                  <a:srgbClr val="374151"/>
                </a:solidFill>
                <a:effectLst/>
                <a:latin typeface="Söhne"/>
              </a:rPr>
              <a:t> It might become challenging to extend or modify the algorithm dynamically at runtime.</a:t>
            </a:r>
          </a:p>
          <a:p>
            <a:endParaRPr lang="en-US" dirty="0"/>
          </a:p>
        </p:txBody>
      </p:sp>
      <p:sp>
        <p:nvSpPr>
          <p:cNvPr id="4" name="Slide Number Placeholder 3"/>
          <p:cNvSpPr>
            <a:spLocks noGrp="1"/>
          </p:cNvSpPr>
          <p:nvPr>
            <p:ph type="sldNum" sz="quarter" idx="5"/>
          </p:nvPr>
        </p:nvSpPr>
        <p:spPr/>
        <p:txBody>
          <a:bodyPr/>
          <a:lstStyle/>
          <a:p>
            <a:fld id="{B105C235-7E9C-46EE-B767-3B81D4CFAF32}" type="slidenum">
              <a:rPr lang="en-US" smtClean="0"/>
              <a:t>54</a:t>
            </a:fld>
            <a:endParaRPr lang="en-US"/>
          </a:p>
        </p:txBody>
      </p:sp>
    </p:spTree>
    <p:extLst>
      <p:ext uri="{BB962C8B-B14F-4D97-AF65-F5344CB8AC3E}">
        <p14:creationId xmlns:p14="http://schemas.microsoft.com/office/powerpoint/2010/main" val="45535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043B-6224-465D-0F7B-4852EE2CA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79079-944B-0095-130F-3278D6BDA5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38266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30CA-596E-9F1D-F9FF-940D0F445A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C9D81-DD48-8ACD-F4AE-ACB15ED02B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7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EAEC-B95C-65BC-4502-7D97E3C0AF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66EA22-1829-9873-41BB-2AC84387A1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8339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9A05-1D32-B2BB-6DFD-5E8D0587F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0B571-2A63-6AAB-43A9-382834172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B7DC5E-E2D6-9942-3C2B-7BD7FDAB6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443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69A1-55DC-DC50-87BF-D5BDB70AC2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7CA8FD-8E4B-DC37-0FA9-9CCB5049C2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A4DE6B-8608-EC30-2A21-442ED52D53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871EC2-6478-BAB1-9AFA-F03593761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6B5CAE-6CFF-DF5F-15F6-D2944FD798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880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E317-2F3D-7689-9B75-7823A6F4AE7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305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536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F2DC-633B-7099-E55B-E7F0C97D42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DF66C9-99F8-1F9A-FB0F-D62095724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7B37DD-B752-0452-3037-99E6CF38B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10584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1AB9-C489-81EE-3666-C42F2F1546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C6C9B-AD44-2D57-249F-B432EA500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5DCE6-1C6A-6470-4FD9-96DCECE49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59006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534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3106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73602-DAB9-2CE3-D538-F5E54C45D2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CFA6F94-FC8D-2818-E06B-1C1361394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FE7C5283-5200-7717-EAC2-3BBC1DB4564B}"/>
              </a:ext>
            </a:extLst>
          </p:cNvPr>
          <p:cNvPicPr>
            <a:picLocks noChangeAspect="1"/>
          </p:cNvPicPr>
          <p:nvPr userDrawn="1"/>
        </p:nvPicPr>
        <p:blipFill>
          <a:blip r:embed="rId1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38546" y="6501793"/>
            <a:ext cx="970684" cy="254927"/>
          </a:xfrm>
          <a:prstGeom prst="rect">
            <a:avLst/>
          </a:prstGeom>
        </p:spPr>
      </p:pic>
      <p:sp>
        <p:nvSpPr>
          <p:cNvPr id="8" name="TextBox 7">
            <a:extLst>
              <a:ext uri="{FF2B5EF4-FFF2-40B4-BE49-F238E27FC236}">
                <a16:creationId xmlns:a16="http://schemas.microsoft.com/office/drawing/2014/main" id="{A0050781-B5CD-B274-A77F-5FEF2B5DDEF1}"/>
              </a:ext>
            </a:extLst>
          </p:cNvPr>
          <p:cNvSpPr txBox="1"/>
          <p:nvPr userDrawn="1"/>
        </p:nvSpPr>
        <p:spPr>
          <a:xfrm>
            <a:off x="4764959" y="6437735"/>
            <a:ext cx="2654381" cy="276999"/>
          </a:xfrm>
          <a:prstGeom prst="rect">
            <a:avLst/>
          </a:prstGeom>
          <a:noFill/>
        </p:spPr>
        <p:txBody>
          <a:bodyPr wrap="none" rtlCol="0">
            <a:spAutoFit/>
          </a:bodyPr>
          <a:lstStyle/>
          <a:p>
            <a:pPr algn="ctr"/>
            <a:r>
              <a:rPr lang="en-US" sz="1200" b="1" kern="1200" dirty="0">
                <a:solidFill>
                  <a:srgbClr val="727272"/>
                </a:solidFill>
                <a:latin typeface="+mn-lt"/>
                <a:ea typeface="+mn-ea"/>
                <a:cs typeface="+mn-cs"/>
              </a:rPr>
              <a:t>Reevaluating Software Design Patterns</a:t>
            </a:r>
          </a:p>
        </p:txBody>
      </p:sp>
      <p:pic>
        <p:nvPicPr>
          <p:cNvPr id="9" name="Picture 8">
            <a:extLst>
              <a:ext uri="{FF2B5EF4-FFF2-40B4-BE49-F238E27FC236}">
                <a16:creationId xmlns:a16="http://schemas.microsoft.com/office/drawing/2014/main" id="{CB0F9C1C-A238-782E-AF20-46AC94132867}"/>
              </a:ext>
            </a:extLst>
          </p:cNvPr>
          <p:cNvPicPr>
            <a:picLocks noChangeAspect="1"/>
          </p:cNvPicPr>
          <p:nvPr userDrawn="1"/>
        </p:nvPicPr>
        <p:blipFill>
          <a:blip r:embed="rId1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159910" y="6484405"/>
            <a:ext cx="1103096" cy="289702"/>
          </a:xfrm>
          <a:prstGeom prst="rect">
            <a:avLst/>
          </a:prstGeom>
        </p:spPr>
      </p:pic>
    </p:spTree>
    <p:extLst>
      <p:ext uri="{BB962C8B-B14F-4D97-AF65-F5344CB8AC3E}">
        <p14:creationId xmlns:p14="http://schemas.microsoft.com/office/powerpoint/2010/main" val="2802723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FEFE00"/>
          </a:solidFill>
          <a:latin typeface="Kamerik205 8" panose="020B08030306000200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9F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9F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9F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9F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9F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326732"/>
      </p:ext>
    </p:extLst>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276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1290-152D-9856-9431-FCF8DB7B3042}"/>
              </a:ext>
            </a:extLst>
          </p:cNvPr>
          <p:cNvSpPr txBox="1">
            <a:spLocks/>
          </p:cNvSpPr>
          <p:nvPr/>
        </p:nvSpPr>
        <p:spPr>
          <a:xfrm>
            <a:off x="286265" y="241558"/>
            <a:ext cx="11619470" cy="6975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a:lstStyle>
          <a:p>
            <a:r>
              <a:rPr lang="en-US" dirty="0">
                <a:solidFill>
                  <a:srgbClr val="FEFE00"/>
                </a:solidFill>
              </a:rPr>
              <a:t>Who is Chad Green?</a:t>
            </a:r>
          </a:p>
        </p:txBody>
      </p:sp>
      <p:pic>
        <p:nvPicPr>
          <p:cNvPr id="3" name="Picture 2">
            <a:extLst>
              <a:ext uri="{FF2B5EF4-FFF2-40B4-BE49-F238E27FC236}">
                <a16:creationId xmlns:a16="http://schemas.microsoft.com/office/drawing/2014/main" id="{B703020B-AC26-D86D-1EAF-869EDD54C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0751" y="0"/>
            <a:ext cx="5141249" cy="6858000"/>
          </a:xfrm>
          <a:prstGeom prst="rect">
            <a:avLst/>
          </a:prstGeom>
        </p:spPr>
      </p:pic>
      <p:sp>
        <p:nvSpPr>
          <p:cNvPr id="4" name="Content Placeholder 2">
            <a:extLst>
              <a:ext uri="{FF2B5EF4-FFF2-40B4-BE49-F238E27FC236}">
                <a16:creationId xmlns:a16="http://schemas.microsoft.com/office/drawing/2014/main" id="{79FD8C10-BBF0-6653-672F-C192567DE635}"/>
              </a:ext>
            </a:extLst>
          </p:cNvPr>
          <p:cNvSpPr txBox="1">
            <a:spLocks/>
          </p:cNvSpPr>
          <p:nvPr/>
        </p:nvSpPr>
        <p:spPr>
          <a:xfrm>
            <a:off x="765175" y="1638152"/>
            <a:ext cx="6177967" cy="35961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rgbClr val="FF9F00"/>
                </a:solidFill>
              </a:rPr>
              <a:t>chadgreen@chadgreen.com</a:t>
            </a:r>
          </a:p>
          <a:p>
            <a:pPr marL="0" indent="0">
              <a:buFont typeface="Arial" panose="020B0604020202020204" pitchFamily="34" charset="0"/>
              <a:buNone/>
            </a:pPr>
            <a:r>
              <a:rPr lang="en-US" sz="4000" dirty="0">
                <a:solidFill>
                  <a:srgbClr val="FF9F00"/>
                </a:solidFill>
              </a:rPr>
              <a:t>TaleLearnCode</a:t>
            </a:r>
          </a:p>
          <a:p>
            <a:pPr marL="0" indent="0">
              <a:buFont typeface="Arial" panose="020B0604020202020204" pitchFamily="34" charset="0"/>
              <a:buNone/>
            </a:pPr>
            <a:r>
              <a:rPr lang="en-US" sz="4000" dirty="0">
                <a:solidFill>
                  <a:srgbClr val="FF9F00"/>
                </a:solidFill>
              </a:rPr>
              <a:t>ChadGreen.com</a:t>
            </a:r>
          </a:p>
          <a:p>
            <a:pPr marL="0" indent="0">
              <a:buFont typeface="Arial" panose="020B0604020202020204" pitchFamily="34" charset="0"/>
              <a:buNone/>
            </a:pPr>
            <a:r>
              <a:rPr lang="en-US" sz="4000" dirty="0" err="1">
                <a:solidFill>
                  <a:srgbClr val="FF9F00"/>
                </a:solidFill>
              </a:rPr>
              <a:t>ChadGreen</a:t>
            </a:r>
            <a:r>
              <a:rPr lang="en-US" sz="4000" dirty="0">
                <a:solidFill>
                  <a:srgbClr val="FF9F00"/>
                </a:solidFill>
              </a:rPr>
              <a:t> &amp; TaleLearnCode</a:t>
            </a:r>
          </a:p>
          <a:p>
            <a:pPr marL="0" indent="0">
              <a:buFont typeface="Arial" panose="020B0604020202020204" pitchFamily="34" charset="0"/>
              <a:buNone/>
            </a:pPr>
            <a:r>
              <a:rPr lang="en-US" sz="4000" dirty="0" err="1">
                <a:solidFill>
                  <a:srgbClr val="FF9F00"/>
                </a:solidFill>
              </a:rPr>
              <a:t>ChadwickEGreen</a:t>
            </a:r>
            <a:endParaRPr lang="en-US" sz="4000" dirty="0">
              <a:solidFill>
                <a:srgbClr val="FF9F00"/>
              </a:solidFill>
            </a:endParaRPr>
          </a:p>
        </p:txBody>
      </p:sp>
      <p:pic>
        <p:nvPicPr>
          <p:cNvPr id="5" name="Picture 4">
            <a:extLst>
              <a:ext uri="{FF2B5EF4-FFF2-40B4-BE49-F238E27FC236}">
                <a16:creationId xmlns:a16="http://schemas.microsoft.com/office/drawing/2014/main" id="{1B202CBD-C150-AA70-BD46-E205EA758793}"/>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75197" y="1776928"/>
            <a:ext cx="489978" cy="450483"/>
          </a:xfrm>
          <a:prstGeom prst="rect">
            <a:avLst/>
          </a:prstGeom>
        </p:spPr>
      </p:pic>
      <p:pic>
        <p:nvPicPr>
          <p:cNvPr id="6" name="Picture 5">
            <a:extLst>
              <a:ext uri="{FF2B5EF4-FFF2-40B4-BE49-F238E27FC236}">
                <a16:creationId xmlns:a16="http://schemas.microsoft.com/office/drawing/2014/main" id="{4985D3AA-A066-8552-4DC5-D07713A30779}"/>
              </a:ext>
            </a:extLst>
          </p:cNvPr>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2435063"/>
            <a:ext cx="480742" cy="480742"/>
          </a:xfrm>
          <a:prstGeom prst="rect">
            <a:avLst/>
          </a:prstGeom>
        </p:spPr>
      </p:pic>
      <p:pic>
        <p:nvPicPr>
          <p:cNvPr id="7" name="Picture 6">
            <a:extLst>
              <a:ext uri="{FF2B5EF4-FFF2-40B4-BE49-F238E27FC236}">
                <a16:creationId xmlns:a16="http://schemas.microsoft.com/office/drawing/2014/main" id="{C79266C0-A676-6D29-FE6F-B5DA169D5CAE}"/>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3011339"/>
            <a:ext cx="489978" cy="489978"/>
          </a:xfrm>
          <a:prstGeom prst="rect">
            <a:avLst/>
          </a:prstGeom>
          <a:ln>
            <a:noFill/>
          </a:ln>
        </p:spPr>
      </p:pic>
      <p:pic>
        <p:nvPicPr>
          <p:cNvPr id="8" name="Picture 7">
            <a:extLst>
              <a:ext uri="{FF2B5EF4-FFF2-40B4-BE49-F238E27FC236}">
                <a16:creationId xmlns:a16="http://schemas.microsoft.com/office/drawing/2014/main" id="{AA9718DA-9C5A-10CC-BCD3-AFF67619204F}"/>
              </a:ext>
            </a:extLst>
          </p:cNvPr>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3727672"/>
            <a:ext cx="480742" cy="480742"/>
          </a:xfrm>
          <a:prstGeom prst="rect">
            <a:avLst/>
          </a:prstGeom>
        </p:spPr>
      </p:pic>
      <p:pic>
        <p:nvPicPr>
          <p:cNvPr id="9" name="Picture 8">
            <a:extLst>
              <a:ext uri="{FF2B5EF4-FFF2-40B4-BE49-F238E27FC236}">
                <a16:creationId xmlns:a16="http://schemas.microsoft.com/office/drawing/2014/main" id="{BB4FDA20-F69A-56A8-FCFA-AE67D384C719}"/>
              </a:ext>
            </a:extLst>
          </p:cNvPr>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74711" y="4365792"/>
            <a:ext cx="445655" cy="445655"/>
          </a:xfrm>
          <a:prstGeom prst="rect">
            <a:avLst/>
          </a:prstGeom>
        </p:spPr>
      </p:pic>
      <p:pic>
        <p:nvPicPr>
          <p:cNvPr id="10" name="Picture 9">
            <a:extLst>
              <a:ext uri="{FF2B5EF4-FFF2-40B4-BE49-F238E27FC236}">
                <a16:creationId xmlns:a16="http://schemas.microsoft.com/office/drawing/2014/main" id="{D676DD6D-44CE-3CD8-D573-239CBC4AB4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151" y="5171221"/>
            <a:ext cx="2289053" cy="923546"/>
          </a:xfrm>
          <a:prstGeom prst="rect">
            <a:avLst/>
          </a:prstGeom>
        </p:spPr>
      </p:pic>
    </p:spTree>
    <p:extLst>
      <p:ext uri="{BB962C8B-B14F-4D97-AF65-F5344CB8AC3E}">
        <p14:creationId xmlns:p14="http://schemas.microsoft.com/office/powerpoint/2010/main" val="1987747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10886-930D-1AB1-86C6-2BC55363B68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76D4C51-5DA1-489A-91B5-FDE799B87CC4}"/>
              </a:ext>
            </a:extLst>
          </p:cNvPr>
          <p:cNvSpPr>
            <a:spLocks noGrp="1"/>
          </p:cNvSpPr>
          <p:nvPr>
            <p:ph idx="1"/>
          </p:nvPr>
        </p:nvSpPr>
        <p:spPr/>
        <p:txBody>
          <a:bodyPr/>
          <a:lstStyle/>
          <a:p>
            <a:r>
              <a:rPr lang="en-US" dirty="0"/>
              <a:t>Brief overview of the significance of design patterns in software development</a:t>
            </a:r>
          </a:p>
        </p:txBody>
      </p:sp>
    </p:spTree>
    <p:extLst>
      <p:ext uri="{BB962C8B-B14F-4D97-AF65-F5344CB8AC3E}">
        <p14:creationId xmlns:p14="http://schemas.microsoft.com/office/powerpoint/2010/main" val="220776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F5E3F-8E40-9568-39BC-B63167575440}"/>
              </a:ext>
            </a:extLst>
          </p:cNvPr>
          <p:cNvSpPr>
            <a:spLocks noGrp="1"/>
          </p:cNvSpPr>
          <p:nvPr>
            <p:ph type="title"/>
          </p:nvPr>
        </p:nvSpPr>
        <p:spPr/>
        <p:txBody>
          <a:bodyPr/>
          <a:lstStyle/>
          <a:p>
            <a:r>
              <a:rPr lang="en-US" dirty="0"/>
              <a:t>The Power of Design Patterns</a:t>
            </a:r>
          </a:p>
        </p:txBody>
      </p:sp>
      <p:sp>
        <p:nvSpPr>
          <p:cNvPr id="3" name="Content Placeholder 2">
            <a:extLst>
              <a:ext uri="{FF2B5EF4-FFF2-40B4-BE49-F238E27FC236}">
                <a16:creationId xmlns:a16="http://schemas.microsoft.com/office/drawing/2014/main" id="{83427A0C-1F68-533C-A969-AB81B4D862C2}"/>
              </a:ext>
            </a:extLst>
          </p:cNvPr>
          <p:cNvSpPr>
            <a:spLocks noGrp="1"/>
          </p:cNvSpPr>
          <p:nvPr>
            <p:ph idx="1"/>
          </p:nvPr>
        </p:nvSpPr>
        <p:spPr/>
        <p:txBody>
          <a:bodyPr/>
          <a:lstStyle/>
          <a:p>
            <a:r>
              <a:rPr lang="en-US" dirty="0"/>
              <a:t>Definition of design patterns</a:t>
            </a:r>
          </a:p>
          <a:p>
            <a:r>
              <a:rPr lang="en-US" dirty="0"/>
              <a:t>Importance in creating maintainable, scalable, and robust software systems</a:t>
            </a:r>
          </a:p>
          <a:p>
            <a:r>
              <a:rPr lang="en-US" dirty="0"/>
              <a:t>Widely accepted as best practices in software engineering</a:t>
            </a:r>
          </a:p>
        </p:txBody>
      </p:sp>
    </p:spTree>
    <p:extLst>
      <p:ext uri="{BB962C8B-B14F-4D97-AF65-F5344CB8AC3E}">
        <p14:creationId xmlns:p14="http://schemas.microsoft.com/office/powerpoint/2010/main" val="217747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BC34-D03D-ABC9-9B27-0CB5129357AF}"/>
              </a:ext>
            </a:extLst>
          </p:cNvPr>
          <p:cNvSpPr>
            <a:spLocks noGrp="1"/>
          </p:cNvSpPr>
          <p:nvPr>
            <p:ph type="title"/>
          </p:nvPr>
        </p:nvSpPr>
        <p:spPr/>
        <p:txBody>
          <a:bodyPr/>
          <a:lstStyle/>
          <a:p>
            <a:r>
              <a:rPr lang="en-US" dirty="0"/>
              <a:t>The Power of Design Patterns</a:t>
            </a:r>
          </a:p>
        </p:txBody>
      </p:sp>
      <p:sp>
        <p:nvSpPr>
          <p:cNvPr id="3" name="Text Placeholder 2">
            <a:extLst>
              <a:ext uri="{FF2B5EF4-FFF2-40B4-BE49-F238E27FC236}">
                <a16:creationId xmlns:a16="http://schemas.microsoft.com/office/drawing/2014/main" id="{6540F611-7529-9E06-6AAB-4F9E8C0CC16C}"/>
              </a:ext>
            </a:extLst>
          </p:cNvPr>
          <p:cNvSpPr>
            <a:spLocks noGrp="1"/>
          </p:cNvSpPr>
          <p:nvPr>
            <p:ph type="body" idx="1"/>
          </p:nvPr>
        </p:nvSpPr>
        <p:spPr/>
        <p:txBody>
          <a:bodyPr/>
          <a:lstStyle/>
          <a:p>
            <a:r>
              <a:rPr lang="en-US" dirty="0"/>
              <a:t>Reevaluating Software Design Patterns</a:t>
            </a:r>
          </a:p>
        </p:txBody>
      </p:sp>
    </p:spTree>
    <p:extLst>
      <p:ext uri="{BB962C8B-B14F-4D97-AF65-F5344CB8AC3E}">
        <p14:creationId xmlns:p14="http://schemas.microsoft.com/office/powerpoint/2010/main" val="90910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Code Reusability</a:t>
            </a:r>
          </a:p>
        </p:txBody>
      </p:sp>
    </p:spTree>
    <p:extLst>
      <p:ext uri="{BB962C8B-B14F-4D97-AF65-F5344CB8AC3E}">
        <p14:creationId xmlns:p14="http://schemas.microsoft.com/office/powerpoint/2010/main" val="224609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Scalability and Maintainability</a:t>
            </a:r>
          </a:p>
        </p:txBody>
      </p:sp>
    </p:spTree>
    <p:extLst>
      <p:ext uri="{BB962C8B-B14F-4D97-AF65-F5344CB8AC3E}">
        <p14:creationId xmlns:p14="http://schemas.microsoft.com/office/powerpoint/2010/main" val="2666738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Common Vocabulary</a:t>
            </a:r>
          </a:p>
        </p:txBody>
      </p:sp>
    </p:spTree>
    <p:extLst>
      <p:ext uri="{BB962C8B-B14F-4D97-AF65-F5344CB8AC3E}">
        <p14:creationId xmlns:p14="http://schemas.microsoft.com/office/powerpoint/2010/main" val="312713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Best Practices</a:t>
            </a:r>
          </a:p>
        </p:txBody>
      </p:sp>
    </p:spTree>
    <p:extLst>
      <p:ext uri="{BB962C8B-B14F-4D97-AF65-F5344CB8AC3E}">
        <p14:creationId xmlns:p14="http://schemas.microsoft.com/office/powerpoint/2010/main" val="2935117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Best Practices</a:t>
            </a:r>
          </a:p>
        </p:txBody>
      </p:sp>
      <p:sp>
        <p:nvSpPr>
          <p:cNvPr id="12" name="Rectangle: Rounded Corners 11">
            <a:extLst>
              <a:ext uri="{FF2B5EF4-FFF2-40B4-BE49-F238E27FC236}">
                <a16:creationId xmlns:a16="http://schemas.microsoft.com/office/drawing/2014/main" id="{5624E620-409F-7D43-01C4-1C529407D47B}"/>
              </a:ext>
            </a:extLst>
          </p:cNvPr>
          <p:cNvSpPr/>
          <p:nvPr/>
        </p:nvSpPr>
        <p:spPr>
          <a:xfrm>
            <a:off x="254344"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Abstraction and Flexibility</a:t>
            </a:r>
          </a:p>
        </p:txBody>
      </p:sp>
    </p:spTree>
    <p:extLst>
      <p:ext uri="{BB962C8B-B14F-4D97-AF65-F5344CB8AC3E}">
        <p14:creationId xmlns:p14="http://schemas.microsoft.com/office/powerpoint/2010/main" val="219565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Best Practices</a:t>
            </a:r>
          </a:p>
        </p:txBody>
      </p:sp>
      <p:sp>
        <p:nvSpPr>
          <p:cNvPr id="12" name="Rectangle: Rounded Corners 11">
            <a:extLst>
              <a:ext uri="{FF2B5EF4-FFF2-40B4-BE49-F238E27FC236}">
                <a16:creationId xmlns:a16="http://schemas.microsoft.com/office/drawing/2014/main" id="{5624E620-409F-7D43-01C4-1C529407D47B}"/>
              </a:ext>
            </a:extLst>
          </p:cNvPr>
          <p:cNvSpPr/>
          <p:nvPr/>
        </p:nvSpPr>
        <p:spPr>
          <a:xfrm>
            <a:off x="254344"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Abstraction and Flexibility</a:t>
            </a:r>
          </a:p>
        </p:txBody>
      </p:sp>
      <p:sp>
        <p:nvSpPr>
          <p:cNvPr id="13" name="Rectangle: Rounded Corners 12">
            <a:extLst>
              <a:ext uri="{FF2B5EF4-FFF2-40B4-BE49-F238E27FC236}">
                <a16:creationId xmlns:a16="http://schemas.microsoft.com/office/drawing/2014/main" id="{35C10EEA-75F6-56DC-5F3E-CBE1C5CC1DB7}"/>
              </a:ext>
            </a:extLst>
          </p:cNvPr>
          <p:cNvSpPr/>
          <p:nvPr/>
        </p:nvSpPr>
        <p:spPr>
          <a:xfrm>
            <a:off x="3308522"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Ease of Maintenance</a:t>
            </a:r>
          </a:p>
        </p:txBody>
      </p:sp>
    </p:spTree>
    <p:extLst>
      <p:ext uri="{BB962C8B-B14F-4D97-AF65-F5344CB8AC3E}">
        <p14:creationId xmlns:p14="http://schemas.microsoft.com/office/powerpoint/2010/main" val="3740673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Best Practices</a:t>
            </a:r>
          </a:p>
        </p:txBody>
      </p:sp>
      <p:sp>
        <p:nvSpPr>
          <p:cNvPr id="12" name="Rectangle: Rounded Corners 11">
            <a:extLst>
              <a:ext uri="{FF2B5EF4-FFF2-40B4-BE49-F238E27FC236}">
                <a16:creationId xmlns:a16="http://schemas.microsoft.com/office/drawing/2014/main" id="{5624E620-409F-7D43-01C4-1C529407D47B}"/>
              </a:ext>
            </a:extLst>
          </p:cNvPr>
          <p:cNvSpPr/>
          <p:nvPr/>
        </p:nvSpPr>
        <p:spPr>
          <a:xfrm>
            <a:off x="254344"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Abstraction and Flexibility</a:t>
            </a:r>
          </a:p>
        </p:txBody>
      </p:sp>
      <p:sp>
        <p:nvSpPr>
          <p:cNvPr id="13" name="Rectangle: Rounded Corners 12">
            <a:extLst>
              <a:ext uri="{FF2B5EF4-FFF2-40B4-BE49-F238E27FC236}">
                <a16:creationId xmlns:a16="http://schemas.microsoft.com/office/drawing/2014/main" id="{35C10EEA-75F6-56DC-5F3E-CBE1C5CC1DB7}"/>
              </a:ext>
            </a:extLst>
          </p:cNvPr>
          <p:cNvSpPr/>
          <p:nvPr/>
        </p:nvSpPr>
        <p:spPr>
          <a:xfrm>
            <a:off x="3308522"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Ease of Maintenance</a:t>
            </a:r>
          </a:p>
        </p:txBody>
      </p:sp>
      <p:sp>
        <p:nvSpPr>
          <p:cNvPr id="14" name="Rectangle: Rounded Corners 13">
            <a:extLst>
              <a:ext uri="{FF2B5EF4-FFF2-40B4-BE49-F238E27FC236}">
                <a16:creationId xmlns:a16="http://schemas.microsoft.com/office/drawing/2014/main" id="{B91BACF8-A21E-607F-61BC-F5E5469D824E}"/>
              </a:ext>
            </a:extLst>
          </p:cNvPr>
          <p:cNvSpPr/>
          <p:nvPr/>
        </p:nvSpPr>
        <p:spPr>
          <a:xfrm>
            <a:off x="6362700"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Learning and Onboarding</a:t>
            </a:r>
          </a:p>
        </p:txBody>
      </p:sp>
    </p:spTree>
    <p:extLst>
      <p:ext uri="{BB962C8B-B14F-4D97-AF65-F5344CB8AC3E}">
        <p14:creationId xmlns:p14="http://schemas.microsoft.com/office/powerpoint/2010/main" val="3790659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Best Practices</a:t>
            </a:r>
          </a:p>
        </p:txBody>
      </p:sp>
      <p:sp>
        <p:nvSpPr>
          <p:cNvPr id="12" name="Rectangle: Rounded Corners 11">
            <a:extLst>
              <a:ext uri="{FF2B5EF4-FFF2-40B4-BE49-F238E27FC236}">
                <a16:creationId xmlns:a16="http://schemas.microsoft.com/office/drawing/2014/main" id="{5624E620-409F-7D43-01C4-1C529407D47B}"/>
              </a:ext>
            </a:extLst>
          </p:cNvPr>
          <p:cNvSpPr/>
          <p:nvPr/>
        </p:nvSpPr>
        <p:spPr>
          <a:xfrm>
            <a:off x="254344"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Abstraction and Flexibility</a:t>
            </a:r>
          </a:p>
        </p:txBody>
      </p:sp>
      <p:sp>
        <p:nvSpPr>
          <p:cNvPr id="13" name="Rectangle: Rounded Corners 12">
            <a:extLst>
              <a:ext uri="{FF2B5EF4-FFF2-40B4-BE49-F238E27FC236}">
                <a16:creationId xmlns:a16="http://schemas.microsoft.com/office/drawing/2014/main" id="{35C10EEA-75F6-56DC-5F3E-CBE1C5CC1DB7}"/>
              </a:ext>
            </a:extLst>
          </p:cNvPr>
          <p:cNvSpPr/>
          <p:nvPr/>
        </p:nvSpPr>
        <p:spPr>
          <a:xfrm>
            <a:off x="3308522"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Ease of Maintenance</a:t>
            </a:r>
          </a:p>
        </p:txBody>
      </p:sp>
      <p:sp>
        <p:nvSpPr>
          <p:cNvPr id="14" name="Rectangle: Rounded Corners 13">
            <a:extLst>
              <a:ext uri="{FF2B5EF4-FFF2-40B4-BE49-F238E27FC236}">
                <a16:creationId xmlns:a16="http://schemas.microsoft.com/office/drawing/2014/main" id="{B91BACF8-A21E-607F-61BC-F5E5469D824E}"/>
              </a:ext>
            </a:extLst>
          </p:cNvPr>
          <p:cNvSpPr/>
          <p:nvPr/>
        </p:nvSpPr>
        <p:spPr>
          <a:xfrm>
            <a:off x="6362700" y="4051566"/>
            <a:ext cx="2520778"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lumMod val="50000"/>
                  </a:schemeClr>
                </a:solidFill>
              </a:rPr>
              <a:t>Learning and Onboarding</a:t>
            </a:r>
          </a:p>
        </p:txBody>
      </p:sp>
      <p:sp>
        <p:nvSpPr>
          <p:cNvPr id="15" name="Rectangle: Rounded Corners 14">
            <a:extLst>
              <a:ext uri="{FF2B5EF4-FFF2-40B4-BE49-F238E27FC236}">
                <a16:creationId xmlns:a16="http://schemas.microsoft.com/office/drawing/2014/main" id="{6EA89202-1013-9F80-AAEE-2065EDECCB0A}"/>
              </a:ext>
            </a:extLst>
          </p:cNvPr>
          <p:cNvSpPr/>
          <p:nvPr/>
        </p:nvSpPr>
        <p:spPr>
          <a:xfrm>
            <a:off x="9416878"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Documentation</a:t>
            </a:r>
          </a:p>
        </p:txBody>
      </p:sp>
    </p:spTree>
    <p:extLst>
      <p:ext uri="{BB962C8B-B14F-4D97-AF65-F5344CB8AC3E}">
        <p14:creationId xmlns:p14="http://schemas.microsoft.com/office/powerpoint/2010/main" val="201605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6D6C-C9B5-BA67-2402-D11BEA51BC58}"/>
              </a:ext>
            </a:extLst>
          </p:cNvPr>
          <p:cNvSpPr>
            <a:spLocks noGrp="1"/>
          </p:cNvSpPr>
          <p:nvPr>
            <p:ph type="title"/>
          </p:nvPr>
        </p:nvSpPr>
        <p:spPr/>
        <p:txBody>
          <a:bodyPr/>
          <a:lstStyle/>
          <a:p>
            <a:r>
              <a:rPr lang="en-US" dirty="0"/>
              <a:t>Significance of Design Patterns</a:t>
            </a:r>
          </a:p>
        </p:txBody>
      </p:sp>
      <p:sp>
        <p:nvSpPr>
          <p:cNvPr id="3" name="Rectangle: Rounded Corners 2">
            <a:extLst>
              <a:ext uri="{FF2B5EF4-FFF2-40B4-BE49-F238E27FC236}">
                <a16:creationId xmlns:a16="http://schemas.microsoft.com/office/drawing/2014/main" id="{515AFC66-07B1-0C1A-F8A3-C1390A10808E}"/>
              </a:ext>
            </a:extLst>
          </p:cNvPr>
          <p:cNvSpPr/>
          <p:nvPr/>
        </p:nvSpPr>
        <p:spPr>
          <a:xfrm>
            <a:off x="254344"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Code Reusability</a:t>
            </a:r>
          </a:p>
        </p:txBody>
      </p:sp>
      <p:sp>
        <p:nvSpPr>
          <p:cNvPr id="4" name="Rectangle: Rounded Corners 3">
            <a:extLst>
              <a:ext uri="{FF2B5EF4-FFF2-40B4-BE49-F238E27FC236}">
                <a16:creationId xmlns:a16="http://schemas.microsoft.com/office/drawing/2014/main" id="{7ECE0FA5-DDF0-6600-5904-805BAEB1D1A2}"/>
              </a:ext>
            </a:extLst>
          </p:cNvPr>
          <p:cNvSpPr/>
          <p:nvPr/>
        </p:nvSpPr>
        <p:spPr>
          <a:xfrm>
            <a:off x="3308522"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Scalability and Maintainability</a:t>
            </a:r>
          </a:p>
        </p:txBody>
      </p:sp>
      <p:sp>
        <p:nvSpPr>
          <p:cNvPr id="5" name="Rectangle: Rounded Corners 4">
            <a:extLst>
              <a:ext uri="{FF2B5EF4-FFF2-40B4-BE49-F238E27FC236}">
                <a16:creationId xmlns:a16="http://schemas.microsoft.com/office/drawing/2014/main" id="{89C22341-1ED0-8B6C-AD1C-9623A6A7A32A}"/>
              </a:ext>
            </a:extLst>
          </p:cNvPr>
          <p:cNvSpPr/>
          <p:nvPr/>
        </p:nvSpPr>
        <p:spPr>
          <a:xfrm>
            <a:off x="6362700"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Common Vocabulary</a:t>
            </a:r>
          </a:p>
        </p:txBody>
      </p:sp>
      <p:sp>
        <p:nvSpPr>
          <p:cNvPr id="6" name="Rectangle: Rounded Corners 5">
            <a:extLst>
              <a:ext uri="{FF2B5EF4-FFF2-40B4-BE49-F238E27FC236}">
                <a16:creationId xmlns:a16="http://schemas.microsoft.com/office/drawing/2014/main" id="{0FCEB949-5536-BCD5-3B62-699C60C2CAE4}"/>
              </a:ext>
            </a:extLst>
          </p:cNvPr>
          <p:cNvSpPr/>
          <p:nvPr/>
        </p:nvSpPr>
        <p:spPr>
          <a:xfrm>
            <a:off x="9416878" y="2063222"/>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Best Practices</a:t>
            </a:r>
          </a:p>
        </p:txBody>
      </p:sp>
      <p:sp>
        <p:nvSpPr>
          <p:cNvPr id="12" name="Rectangle: Rounded Corners 11">
            <a:extLst>
              <a:ext uri="{FF2B5EF4-FFF2-40B4-BE49-F238E27FC236}">
                <a16:creationId xmlns:a16="http://schemas.microsoft.com/office/drawing/2014/main" id="{5624E620-409F-7D43-01C4-1C529407D47B}"/>
              </a:ext>
            </a:extLst>
          </p:cNvPr>
          <p:cNvSpPr/>
          <p:nvPr/>
        </p:nvSpPr>
        <p:spPr>
          <a:xfrm>
            <a:off x="254344"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Abstraction and Flexibility</a:t>
            </a:r>
          </a:p>
        </p:txBody>
      </p:sp>
      <p:sp>
        <p:nvSpPr>
          <p:cNvPr id="13" name="Rectangle: Rounded Corners 12">
            <a:extLst>
              <a:ext uri="{FF2B5EF4-FFF2-40B4-BE49-F238E27FC236}">
                <a16:creationId xmlns:a16="http://schemas.microsoft.com/office/drawing/2014/main" id="{35C10EEA-75F6-56DC-5F3E-CBE1C5CC1DB7}"/>
              </a:ext>
            </a:extLst>
          </p:cNvPr>
          <p:cNvSpPr/>
          <p:nvPr/>
        </p:nvSpPr>
        <p:spPr>
          <a:xfrm>
            <a:off x="3308522"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Ease of Maintenance</a:t>
            </a:r>
          </a:p>
        </p:txBody>
      </p:sp>
      <p:sp>
        <p:nvSpPr>
          <p:cNvPr id="14" name="Rectangle: Rounded Corners 13">
            <a:extLst>
              <a:ext uri="{FF2B5EF4-FFF2-40B4-BE49-F238E27FC236}">
                <a16:creationId xmlns:a16="http://schemas.microsoft.com/office/drawing/2014/main" id="{B91BACF8-A21E-607F-61BC-F5E5469D824E}"/>
              </a:ext>
            </a:extLst>
          </p:cNvPr>
          <p:cNvSpPr/>
          <p:nvPr/>
        </p:nvSpPr>
        <p:spPr>
          <a:xfrm>
            <a:off x="6362700"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Learning and Onboarding</a:t>
            </a:r>
          </a:p>
        </p:txBody>
      </p:sp>
      <p:sp>
        <p:nvSpPr>
          <p:cNvPr id="15" name="Rectangle: Rounded Corners 14">
            <a:extLst>
              <a:ext uri="{FF2B5EF4-FFF2-40B4-BE49-F238E27FC236}">
                <a16:creationId xmlns:a16="http://schemas.microsoft.com/office/drawing/2014/main" id="{6EA89202-1013-9F80-AAEE-2065EDECCB0A}"/>
              </a:ext>
            </a:extLst>
          </p:cNvPr>
          <p:cNvSpPr/>
          <p:nvPr/>
        </p:nvSpPr>
        <p:spPr>
          <a:xfrm>
            <a:off x="9416878" y="4051566"/>
            <a:ext cx="2520778"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t>Documentation</a:t>
            </a:r>
          </a:p>
        </p:txBody>
      </p:sp>
    </p:spTree>
    <p:extLst>
      <p:ext uri="{BB962C8B-B14F-4D97-AF65-F5344CB8AC3E}">
        <p14:creationId xmlns:p14="http://schemas.microsoft.com/office/powerpoint/2010/main" val="426196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7B9D-1437-A2D6-4EA8-170E8A0F1E0D}"/>
              </a:ext>
            </a:extLst>
          </p:cNvPr>
          <p:cNvSpPr>
            <a:spLocks noGrp="1"/>
          </p:cNvSpPr>
          <p:nvPr>
            <p:ph type="title"/>
          </p:nvPr>
        </p:nvSpPr>
        <p:spPr/>
        <p:txBody>
          <a:bodyPr/>
          <a:lstStyle/>
          <a:p>
            <a:r>
              <a:rPr lang="en-US" dirty="0"/>
              <a:t>Gang of Four</a:t>
            </a:r>
          </a:p>
        </p:txBody>
      </p:sp>
      <p:pic>
        <p:nvPicPr>
          <p:cNvPr id="4" name="Picture 3">
            <a:extLst>
              <a:ext uri="{FF2B5EF4-FFF2-40B4-BE49-F238E27FC236}">
                <a16:creationId xmlns:a16="http://schemas.microsoft.com/office/drawing/2014/main" id="{38503D66-C673-61A7-34D5-A1B8F9D9E2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3635284" cy="4586287"/>
          </a:xfrm>
          <a:prstGeom prst="rect">
            <a:avLst/>
          </a:prstGeom>
        </p:spPr>
      </p:pic>
      <p:pic>
        <p:nvPicPr>
          <p:cNvPr id="1028" name="Picture 4" descr="Gang of Four - Erich Gamma, Richard Helm, Ralph Johnson, John Vlissides">
            <a:extLst>
              <a:ext uri="{FF2B5EF4-FFF2-40B4-BE49-F238E27FC236}">
                <a16:creationId xmlns:a16="http://schemas.microsoft.com/office/drawing/2014/main" id="{0E38F2C2-D985-0D77-74AC-B5ED5754DD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9181" y="2185987"/>
            <a:ext cx="5590744"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567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D41A-3513-3D09-F679-F6F95062731F}"/>
              </a:ext>
            </a:extLst>
          </p:cNvPr>
          <p:cNvSpPr>
            <a:spLocks noGrp="1"/>
          </p:cNvSpPr>
          <p:nvPr>
            <p:ph type="title"/>
          </p:nvPr>
        </p:nvSpPr>
        <p:spPr/>
        <p:txBody>
          <a:bodyPr/>
          <a:lstStyle/>
          <a:p>
            <a:r>
              <a:rPr lang="en-US" dirty="0"/>
              <a:t>Main Types of Design Patterns</a:t>
            </a:r>
          </a:p>
        </p:txBody>
      </p:sp>
      <p:sp>
        <p:nvSpPr>
          <p:cNvPr id="3" name="Rectangle: Rounded Corners 2">
            <a:extLst>
              <a:ext uri="{FF2B5EF4-FFF2-40B4-BE49-F238E27FC236}">
                <a16:creationId xmlns:a16="http://schemas.microsoft.com/office/drawing/2014/main" id="{117AAF6A-320D-4383-F22E-81AB4903DE38}"/>
              </a:ext>
            </a:extLst>
          </p:cNvPr>
          <p:cNvSpPr/>
          <p:nvPr/>
        </p:nvSpPr>
        <p:spPr>
          <a:xfrm>
            <a:off x="254343" y="206322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Creation</a:t>
            </a:r>
          </a:p>
        </p:txBody>
      </p:sp>
    </p:spTree>
    <p:extLst>
      <p:ext uri="{BB962C8B-B14F-4D97-AF65-F5344CB8AC3E}">
        <p14:creationId xmlns:p14="http://schemas.microsoft.com/office/powerpoint/2010/main" val="378092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D41A-3513-3D09-F679-F6F95062731F}"/>
              </a:ext>
            </a:extLst>
          </p:cNvPr>
          <p:cNvSpPr>
            <a:spLocks noGrp="1"/>
          </p:cNvSpPr>
          <p:nvPr>
            <p:ph type="title"/>
          </p:nvPr>
        </p:nvSpPr>
        <p:spPr/>
        <p:txBody>
          <a:bodyPr/>
          <a:lstStyle/>
          <a:p>
            <a:r>
              <a:rPr lang="en-US" dirty="0"/>
              <a:t>Main Types of Design Patterns</a:t>
            </a:r>
          </a:p>
        </p:txBody>
      </p:sp>
      <p:sp>
        <p:nvSpPr>
          <p:cNvPr id="3" name="Rectangle: Rounded Corners 2">
            <a:extLst>
              <a:ext uri="{FF2B5EF4-FFF2-40B4-BE49-F238E27FC236}">
                <a16:creationId xmlns:a16="http://schemas.microsoft.com/office/drawing/2014/main" id="{117AAF6A-320D-4383-F22E-81AB4903DE38}"/>
              </a:ext>
            </a:extLst>
          </p:cNvPr>
          <p:cNvSpPr/>
          <p:nvPr/>
        </p:nvSpPr>
        <p:spPr>
          <a:xfrm>
            <a:off x="254343" y="206322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Creation</a:t>
            </a:r>
          </a:p>
        </p:txBody>
      </p:sp>
      <p:sp>
        <p:nvSpPr>
          <p:cNvPr id="4" name="Rectangle: Rounded Corners 3">
            <a:extLst>
              <a:ext uri="{FF2B5EF4-FFF2-40B4-BE49-F238E27FC236}">
                <a16:creationId xmlns:a16="http://schemas.microsoft.com/office/drawing/2014/main" id="{774E8C6C-7C3B-C18A-A3F4-2033BA455E41}"/>
              </a:ext>
            </a:extLst>
          </p:cNvPr>
          <p:cNvSpPr/>
          <p:nvPr/>
        </p:nvSpPr>
        <p:spPr>
          <a:xfrm>
            <a:off x="4360505" y="2103437"/>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Structural</a:t>
            </a:r>
          </a:p>
        </p:txBody>
      </p:sp>
    </p:spTree>
    <p:extLst>
      <p:ext uri="{BB962C8B-B14F-4D97-AF65-F5344CB8AC3E}">
        <p14:creationId xmlns:p14="http://schemas.microsoft.com/office/powerpoint/2010/main" val="2019701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D41A-3513-3D09-F679-F6F95062731F}"/>
              </a:ext>
            </a:extLst>
          </p:cNvPr>
          <p:cNvSpPr>
            <a:spLocks noGrp="1"/>
          </p:cNvSpPr>
          <p:nvPr>
            <p:ph type="title"/>
          </p:nvPr>
        </p:nvSpPr>
        <p:spPr/>
        <p:txBody>
          <a:bodyPr/>
          <a:lstStyle/>
          <a:p>
            <a:r>
              <a:rPr lang="en-US" dirty="0"/>
              <a:t>Main Types of Design Patterns</a:t>
            </a:r>
          </a:p>
        </p:txBody>
      </p:sp>
      <p:sp>
        <p:nvSpPr>
          <p:cNvPr id="3" name="Rectangle: Rounded Corners 2">
            <a:extLst>
              <a:ext uri="{FF2B5EF4-FFF2-40B4-BE49-F238E27FC236}">
                <a16:creationId xmlns:a16="http://schemas.microsoft.com/office/drawing/2014/main" id="{117AAF6A-320D-4383-F22E-81AB4903DE38}"/>
              </a:ext>
            </a:extLst>
          </p:cNvPr>
          <p:cNvSpPr/>
          <p:nvPr/>
        </p:nvSpPr>
        <p:spPr>
          <a:xfrm>
            <a:off x="254343" y="206322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Creation</a:t>
            </a:r>
          </a:p>
        </p:txBody>
      </p:sp>
      <p:sp>
        <p:nvSpPr>
          <p:cNvPr id="4" name="Rectangle: Rounded Corners 3">
            <a:extLst>
              <a:ext uri="{FF2B5EF4-FFF2-40B4-BE49-F238E27FC236}">
                <a16:creationId xmlns:a16="http://schemas.microsoft.com/office/drawing/2014/main" id="{774E8C6C-7C3B-C18A-A3F4-2033BA455E41}"/>
              </a:ext>
            </a:extLst>
          </p:cNvPr>
          <p:cNvSpPr/>
          <p:nvPr/>
        </p:nvSpPr>
        <p:spPr>
          <a:xfrm>
            <a:off x="4360505" y="2103437"/>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Structural</a:t>
            </a:r>
          </a:p>
        </p:txBody>
      </p:sp>
      <p:sp>
        <p:nvSpPr>
          <p:cNvPr id="5" name="Rectangle: Rounded Corners 4">
            <a:extLst>
              <a:ext uri="{FF2B5EF4-FFF2-40B4-BE49-F238E27FC236}">
                <a16:creationId xmlns:a16="http://schemas.microsoft.com/office/drawing/2014/main" id="{7C74740A-5645-23CF-9992-B604A76255B6}"/>
              </a:ext>
            </a:extLst>
          </p:cNvPr>
          <p:cNvSpPr/>
          <p:nvPr/>
        </p:nvSpPr>
        <p:spPr>
          <a:xfrm>
            <a:off x="8466667" y="214365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Behavioral</a:t>
            </a:r>
          </a:p>
        </p:txBody>
      </p:sp>
    </p:spTree>
    <p:extLst>
      <p:ext uri="{BB962C8B-B14F-4D97-AF65-F5344CB8AC3E}">
        <p14:creationId xmlns:p14="http://schemas.microsoft.com/office/powerpoint/2010/main" val="608993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D41A-3513-3D09-F679-F6F95062731F}"/>
              </a:ext>
            </a:extLst>
          </p:cNvPr>
          <p:cNvSpPr>
            <a:spLocks noGrp="1"/>
          </p:cNvSpPr>
          <p:nvPr>
            <p:ph type="title"/>
          </p:nvPr>
        </p:nvSpPr>
        <p:spPr/>
        <p:txBody>
          <a:bodyPr/>
          <a:lstStyle/>
          <a:p>
            <a:r>
              <a:rPr lang="en-US" dirty="0"/>
              <a:t>Main Types of Design Patterns</a:t>
            </a:r>
          </a:p>
        </p:txBody>
      </p:sp>
      <p:sp>
        <p:nvSpPr>
          <p:cNvPr id="3" name="Rectangle: Rounded Corners 2">
            <a:extLst>
              <a:ext uri="{FF2B5EF4-FFF2-40B4-BE49-F238E27FC236}">
                <a16:creationId xmlns:a16="http://schemas.microsoft.com/office/drawing/2014/main" id="{117AAF6A-320D-4383-F22E-81AB4903DE38}"/>
              </a:ext>
            </a:extLst>
          </p:cNvPr>
          <p:cNvSpPr/>
          <p:nvPr/>
        </p:nvSpPr>
        <p:spPr>
          <a:xfrm>
            <a:off x="254343" y="206322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Creation</a:t>
            </a:r>
          </a:p>
        </p:txBody>
      </p:sp>
      <p:sp>
        <p:nvSpPr>
          <p:cNvPr id="4" name="Rectangle: Rounded Corners 3">
            <a:extLst>
              <a:ext uri="{FF2B5EF4-FFF2-40B4-BE49-F238E27FC236}">
                <a16:creationId xmlns:a16="http://schemas.microsoft.com/office/drawing/2014/main" id="{774E8C6C-7C3B-C18A-A3F4-2033BA455E41}"/>
              </a:ext>
            </a:extLst>
          </p:cNvPr>
          <p:cNvSpPr/>
          <p:nvPr/>
        </p:nvSpPr>
        <p:spPr>
          <a:xfrm>
            <a:off x="4360505" y="2103437"/>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Structural</a:t>
            </a:r>
          </a:p>
        </p:txBody>
      </p:sp>
      <p:sp>
        <p:nvSpPr>
          <p:cNvPr id="5" name="Rectangle: Rounded Corners 4">
            <a:extLst>
              <a:ext uri="{FF2B5EF4-FFF2-40B4-BE49-F238E27FC236}">
                <a16:creationId xmlns:a16="http://schemas.microsoft.com/office/drawing/2014/main" id="{7C74740A-5645-23CF-9992-B604A76255B6}"/>
              </a:ext>
            </a:extLst>
          </p:cNvPr>
          <p:cNvSpPr/>
          <p:nvPr/>
        </p:nvSpPr>
        <p:spPr>
          <a:xfrm>
            <a:off x="8466667" y="2143652"/>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Behavioral</a:t>
            </a:r>
          </a:p>
        </p:txBody>
      </p:sp>
      <p:sp>
        <p:nvSpPr>
          <p:cNvPr id="6" name="Rectangle: Rounded Corners 5">
            <a:extLst>
              <a:ext uri="{FF2B5EF4-FFF2-40B4-BE49-F238E27FC236}">
                <a16:creationId xmlns:a16="http://schemas.microsoft.com/office/drawing/2014/main" id="{9F8AD856-BC13-1EA9-13CF-66EF267746AF}"/>
              </a:ext>
            </a:extLst>
          </p:cNvPr>
          <p:cNvSpPr/>
          <p:nvPr/>
        </p:nvSpPr>
        <p:spPr>
          <a:xfrm>
            <a:off x="4360505" y="3841749"/>
            <a:ext cx="3470989"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Architectural</a:t>
            </a:r>
          </a:p>
        </p:txBody>
      </p:sp>
    </p:spTree>
    <p:extLst>
      <p:ext uri="{BB962C8B-B14F-4D97-AF65-F5344CB8AC3E}">
        <p14:creationId xmlns:p14="http://schemas.microsoft.com/office/powerpoint/2010/main" val="2130089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6F78-6525-CF2F-6B85-31BEA496874B}"/>
              </a:ext>
            </a:extLst>
          </p:cNvPr>
          <p:cNvSpPr>
            <a:spLocks noGrp="1"/>
          </p:cNvSpPr>
          <p:nvPr>
            <p:ph type="title"/>
          </p:nvPr>
        </p:nvSpPr>
        <p:spPr/>
        <p:txBody>
          <a:bodyPr/>
          <a:lstStyle/>
          <a:p>
            <a:r>
              <a:rPr lang="en-US" dirty="0"/>
              <a:t>Not All Patterns Are Created Equal</a:t>
            </a:r>
          </a:p>
        </p:txBody>
      </p:sp>
      <p:sp>
        <p:nvSpPr>
          <p:cNvPr id="3" name="Text Placeholder 2">
            <a:extLst>
              <a:ext uri="{FF2B5EF4-FFF2-40B4-BE49-F238E27FC236}">
                <a16:creationId xmlns:a16="http://schemas.microsoft.com/office/drawing/2014/main" id="{08D68AE1-4C18-975B-7E45-C10D4BAE5CDC}"/>
              </a:ext>
            </a:extLst>
          </p:cNvPr>
          <p:cNvSpPr>
            <a:spLocks noGrp="1"/>
          </p:cNvSpPr>
          <p:nvPr>
            <p:ph type="body" idx="1"/>
          </p:nvPr>
        </p:nvSpPr>
        <p:spPr/>
        <p:txBody>
          <a:bodyPr/>
          <a:lstStyle/>
          <a:p>
            <a:r>
              <a:rPr lang="en-US" dirty="0"/>
              <a:t>Reevaluating Software Design Patterns</a:t>
            </a:r>
          </a:p>
        </p:txBody>
      </p:sp>
    </p:spTree>
    <p:extLst>
      <p:ext uri="{BB962C8B-B14F-4D97-AF65-F5344CB8AC3E}">
        <p14:creationId xmlns:p14="http://schemas.microsoft.com/office/powerpoint/2010/main" val="1376317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0A38-14E1-C39A-0EDB-2E1EF9609C61}"/>
              </a:ext>
            </a:extLst>
          </p:cNvPr>
          <p:cNvSpPr>
            <a:spLocks noGrp="1"/>
          </p:cNvSpPr>
          <p:nvPr>
            <p:ph type="title"/>
          </p:nvPr>
        </p:nvSpPr>
        <p:spPr/>
        <p:txBody>
          <a:bodyPr/>
          <a:lstStyle/>
          <a:p>
            <a:r>
              <a:rPr lang="en-US" dirty="0"/>
              <a:t>Not all patterns are created equal</a:t>
            </a:r>
          </a:p>
        </p:txBody>
      </p:sp>
      <p:sp>
        <p:nvSpPr>
          <p:cNvPr id="3" name="Content Placeholder 2">
            <a:extLst>
              <a:ext uri="{FF2B5EF4-FFF2-40B4-BE49-F238E27FC236}">
                <a16:creationId xmlns:a16="http://schemas.microsoft.com/office/drawing/2014/main" id="{80F40616-F89B-137E-F0D2-328D79FA000A}"/>
              </a:ext>
            </a:extLst>
          </p:cNvPr>
          <p:cNvSpPr>
            <a:spLocks noGrp="1"/>
          </p:cNvSpPr>
          <p:nvPr>
            <p:ph idx="1"/>
          </p:nvPr>
        </p:nvSpPr>
        <p:spPr/>
        <p:txBody>
          <a:bodyPr/>
          <a:lstStyle/>
          <a:p>
            <a:r>
              <a:rPr lang="en-US" b="1" dirty="0"/>
              <a:t>Should be applied judiciously</a:t>
            </a:r>
          </a:p>
        </p:txBody>
      </p:sp>
    </p:spTree>
    <p:extLst>
      <p:ext uri="{BB962C8B-B14F-4D97-AF65-F5344CB8AC3E}">
        <p14:creationId xmlns:p14="http://schemas.microsoft.com/office/powerpoint/2010/main" val="1615375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0A38-14E1-C39A-0EDB-2E1EF9609C61}"/>
              </a:ext>
            </a:extLst>
          </p:cNvPr>
          <p:cNvSpPr>
            <a:spLocks noGrp="1"/>
          </p:cNvSpPr>
          <p:nvPr>
            <p:ph type="title"/>
          </p:nvPr>
        </p:nvSpPr>
        <p:spPr/>
        <p:txBody>
          <a:bodyPr/>
          <a:lstStyle/>
          <a:p>
            <a:r>
              <a:rPr lang="en-US" dirty="0"/>
              <a:t>Not all patterns are created equal</a:t>
            </a:r>
          </a:p>
        </p:txBody>
      </p:sp>
      <p:sp>
        <p:nvSpPr>
          <p:cNvPr id="3" name="Content Placeholder 2">
            <a:extLst>
              <a:ext uri="{FF2B5EF4-FFF2-40B4-BE49-F238E27FC236}">
                <a16:creationId xmlns:a16="http://schemas.microsoft.com/office/drawing/2014/main" id="{80F40616-F89B-137E-F0D2-328D79FA000A}"/>
              </a:ext>
            </a:extLst>
          </p:cNvPr>
          <p:cNvSpPr>
            <a:spLocks noGrp="1"/>
          </p:cNvSpPr>
          <p:nvPr>
            <p:ph idx="1"/>
          </p:nvPr>
        </p:nvSpPr>
        <p:spPr/>
        <p:txBody>
          <a:bodyPr/>
          <a:lstStyle/>
          <a:p>
            <a:r>
              <a:rPr lang="en-US" dirty="0"/>
              <a:t>Should be applied judiciously</a:t>
            </a:r>
          </a:p>
          <a:p>
            <a:r>
              <a:rPr lang="en-US" b="1" dirty="0"/>
              <a:t>Appropriateness influenced by nature of software being developed</a:t>
            </a:r>
          </a:p>
        </p:txBody>
      </p:sp>
    </p:spTree>
    <p:extLst>
      <p:ext uri="{BB962C8B-B14F-4D97-AF65-F5344CB8AC3E}">
        <p14:creationId xmlns:p14="http://schemas.microsoft.com/office/powerpoint/2010/main" val="2833626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0A38-14E1-C39A-0EDB-2E1EF9609C61}"/>
              </a:ext>
            </a:extLst>
          </p:cNvPr>
          <p:cNvSpPr>
            <a:spLocks noGrp="1"/>
          </p:cNvSpPr>
          <p:nvPr>
            <p:ph type="title"/>
          </p:nvPr>
        </p:nvSpPr>
        <p:spPr/>
        <p:txBody>
          <a:bodyPr/>
          <a:lstStyle/>
          <a:p>
            <a:r>
              <a:rPr lang="en-US" dirty="0"/>
              <a:t>Not all patterns are created equal</a:t>
            </a:r>
          </a:p>
        </p:txBody>
      </p:sp>
      <p:sp>
        <p:nvSpPr>
          <p:cNvPr id="3" name="Content Placeholder 2">
            <a:extLst>
              <a:ext uri="{FF2B5EF4-FFF2-40B4-BE49-F238E27FC236}">
                <a16:creationId xmlns:a16="http://schemas.microsoft.com/office/drawing/2014/main" id="{80F40616-F89B-137E-F0D2-328D79FA000A}"/>
              </a:ext>
            </a:extLst>
          </p:cNvPr>
          <p:cNvSpPr>
            <a:spLocks noGrp="1"/>
          </p:cNvSpPr>
          <p:nvPr>
            <p:ph idx="1"/>
          </p:nvPr>
        </p:nvSpPr>
        <p:spPr/>
        <p:txBody>
          <a:bodyPr/>
          <a:lstStyle/>
          <a:p>
            <a:r>
              <a:rPr lang="en-US" dirty="0"/>
              <a:t>Should be applied judiciously</a:t>
            </a:r>
          </a:p>
          <a:p>
            <a:r>
              <a:rPr lang="en-US" dirty="0"/>
              <a:t>Appropriateness influenced by nature of software being developed</a:t>
            </a:r>
          </a:p>
          <a:p>
            <a:r>
              <a:rPr lang="en-US" b="1" dirty="0"/>
              <a:t>Essential to carefully evaluate trade-offs</a:t>
            </a:r>
          </a:p>
        </p:txBody>
      </p:sp>
    </p:spTree>
    <p:extLst>
      <p:ext uri="{BB962C8B-B14F-4D97-AF65-F5344CB8AC3E}">
        <p14:creationId xmlns:p14="http://schemas.microsoft.com/office/powerpoint/2010/main" val="842962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0A38-14E1-C39A-0EDB-2E1EF9609C61}"/>
              </a:ext>
            </a:extLst>
          </p:cNvPr>
          <p:cNvSpPr>
            <a:spLocks noGrp="1"/>
          </p:cNvSpPr>
          <p:nvPr>
            <p:ph type="title"/>
          </p:nvPr>
        </p:nvSpPr>
        <p:spPr/>
        <p:txBody>
          <a:bodyPr/>
          <a:lstStyle/>
          <a:p>
            <a:r>
              <a:rPr lang="en-US" dirty="0"/>
              <a:t>Not all patterns are created equal</a:t>
            </a:r>
          </a:p>
        </p:txBody>
      </p:sp>
      <p:sp>
        <p:nvSpPr>
          <p:cNvPr id="3" name="Content Placeholder 2">
            <a:extLst>
              <a:ext uri="{FF2B5EF4-FFF2-40B4-BE49-F238E27FC236}">
                <a16:creationId xmlns:a16="http://schemas.microsoft.com/office/drawing/2014/main" id="{80F40616-F89B-137E-F0D2-328D79FA000A}"/>
              </a:ext>
            </a:extLst>
          </p:cNvPr>
          <p:cNvSpPr>
            <a:spLocks noGrp="1"/>
          </p:cNvSpPr>
          <p:nvPr>
            <p:ph idx="1"/>
          </p:nvPr>
        </p:nvSpPr>
        <p:spPr/>
        <p:txBody>
          <a:bodyPr/>
          <a:lstStyle/>
          <a:p>
            <a:r>
              <a:rPr lang="en-US" dirty="0"/>
              <a:t>Should be applied judiciously</a:t>
            </a:r>
          </a:p>
          <a:p>
            <a:r>
              <a:rPr lang="en-US" dirty="0"/>
              <a:t>Appropriateness influenced by nature of software being developed</a:t>
            </a:r>
          </a:p>
          <a:p>
            <a:r>
              <a:rPr lang="en-US" dirty="0"/>
              <a:t>Essential to carefully evaluate trade-offs</a:t>
            </a:r>
          </a:p>
        </p:txBody>
      </p:sp>
    </p:spTree>
    <p:extLst>
      <p:ext uri="{BB962C8B-B14F-4D97-AF65-F5344CB8AC3E}">
        <p14:creationId xmlns:p14="http://schemas.microsoft.com/office/powerpoint/2010/main" val="2782520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EF9A9-8578-14F5-E2C3-F825CAE0DF19}"/>
              </a:ext>
            </a:extLst>
          </p:cNvPr>
          <p:cNvSpPr>
            <a:spLocks noGrp="1"/>
          </p:cNvSpPr>
          <p:nvPr>
            <p:ph type="title"/>
          </p:nvPr>
        </p:nvSpPr>
        <p:spPr/>
        <p:txBody>
          <a:bodyPr/>
          <a:lstStyle/>
          <a:p>
            <a:r>
              <a:rPr lang="en-US" dirty="0"/>
              <a:t>The Problematic Patterns</a:t>
            </a:r>
          </a:p>
        </p:txBody>
      </p:sp>
      <p:sp>
        <p:nvSpPr>
          <p:cNvPr id="3" name="Text Placeholder 2">
            <a:extLst>
              <a:ext uri="{FF2B5EF4-FFF2-40B4-BE49-F238E27FC236}">
                <a16:creationId xmlns:a16="http://schemas.microsoft.com/office/drawing/2014/main" id="{8D83907E-8D54-4441-17B9-E601B318302F}"/>
              </a:ext>
            </a:extLst>
          </p:cNvPr>
          <p:cNvSpPr>
            <a:spLocks noGrp="1"/>
          </p:cNvSpPr>
          <p:nvPr>
            <p:ph type="body" idx="1"/>
          </p:nvPr>
        </p:nvSpPr>
        <p:spPr/>
        <p:txBody>
          <a:bodyPr/>
          <a:lstStyle/>
          <a:p>
            <a:r>
              <a:rPr lang="en-US" dirty="0"/>
              <a:t>Reevaluating Software Design Patterns</a:t>
            </a:r>
          </a:p>
        </p:txBody>
      </p:sp>
    </p:spTree>
    <p:extLst>
      <p:ext uri="{BB962C8B-B14F-4D97-AF65-F5344CB8AC3E}">
        <p14:creationId xmlns:p14="http://schemas.microsoft.com/office/powerpoint/2010/main" val="569635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B838-A08A-AD0B-DA5D-6CF1FBF4CE0B}"/>
              </a:ext>
            </a:extLst>
          </p:cNvPr>
          <p:cNvSpPr>
            <a:spLocks noGrp="1"/>
          </p:cNvSpPr>
          <p:nvPr>
            <p:ph type="title"/>
          </p:nvPr>
        </p:nvSpPr>
        <p:spPr/>
        <p:txBody>
          <a:bodyPr/>
          <a:lstStyle/>
          <a:p>
            <a:r>
              <a:rPr lang="en-US" dirty="0"/>
              <a:t>Not talking about anti-patterns</a:t>
            </a:r>
          </a:p>
        </p:txBody>
      </p:sp>
      <p:sp>
        <p:nvSpPr>
          <p:cNvPr id="3" name="Content Placeholder 2">
            <a:extLst>
              <a:ext uri="{FF2B5EF4-FFF2-40B4-BE49-F238E27FC236}">
                <a16:creationId xmlns:a16="http://schemas.microsoft.com/office/drawing/2014/main" id="{1F04EF02-231A-D38E-4C9A-923CAB7BF431}"/>
              </a:ext>
            </a:extLst>
          </p:cNvPr>
          <p:cNvSpPr>
            <a:spLocks noGrp="1"/>
          </p:cNvSpPr>
          <p:nvPr>
            <p:ph idx="1"/>
          </p:nvPr>
        </p:nvSpPr>
        <p:spPr/>
        <p:txBody>
          <a:bodyPr/>
          <a:lstStyle/>
          <a:p>
            <a:r>
              <a:rPr lang="en-US" dirty="0"/>
              <a:t>God Object</a:t>
            </a:r>
          </a:p>
          <a:p>
            <a:r>
              <a:rPr lang="en-US" dirty="0"/>
              <a:t>Spaghetti Code</a:t>
            </a:r>
          </a:p>
          <a:p>
            <a:r>
              <a:rPr lang="en-US" dirty="0"/>
              <a:t>Copy-Paste Programming</a:t>
            </a:r>
          </a:p>
          <a:p>
            <a:r>
              <a:rPr lang="en-US" dirty="0"/>
              <a:t>Magic Numbers</a:t>
            </a:r>
          </a:p>
          <a:p>
            <a:r>
              <a:rPr lang="en-US" dirty="0"/>
              <a:t>Hard Coding</a:t>
            </a:r>
          </a:p>
          <a:p>
            <a:r>
              <a:rPr lang="en-US" dirty="0"/>
              <a:t>Lava Flow</a:t>
            </a:r>
          </a:p>
          <a:p>
            <a:r>
              <a:rPr lang="en-US" dirty="0"/>
              <a:t>Circular Dependency</a:t>
            </a:r>
          </a:p>
          <a:p>
            <a:r>
              <a:rPr lang="en-US" dirty="0"/>
              <a:t>Premature Optimization</a:t>
            </a:r>
          </a:p>
        </p:txBody>
      </p:sp>
    </p:spTree>
    <p:extLst>
      <p:ext uri="{BB962C8B-B14F-4D97-AF65-F5344CB8AC3E}">
        <p14:creationId xmlns:p14="http://schemas.microsoft.com/office/powerpoint/2010/main" val="135911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87E45-7F2F-287F-B17B-96E4E0A3707A}"/>
              </a:ext>
            </a:extLst>
          </p:cNvPr>
          <p:cNvSpPr>
            <a:spLocks noGrp="1"/>
          </p:cNvSpPr>
          <p:nvPr>
            <p:ph type="title"/>
          </p:nvPr>
        </p:nvSpPr>
        <p:spPr/>
        <p:txBody>
          <a:bodyPr/>
          <a:lstStyle/>
          <a:p>
            <a:r>
              <a:rPr lang="en-US" dirty="0"/>
              <a:t>The Problematic Patterns</a:t>
            </a:r>
          </a:p>
        </p:txBody>
      </p:sp>
      <p:sp>
        <p:nvSpPr>
          <p:cNvPr id="3" name="Content Placeholder 2">
            <a:extLst>
              <a:ext uri="{FF2B5EF4-FFF2-40B4-BE49-F238E27FC236}">
                <a16:creationId xmlns:a16="http://schemas.microsoft.com/office/drawing/2014/main" id="{3EDA5422-8DB7-1330-C5E5-45A66CAE2069}"/>
              </a:ext>
            </a:extLst>
          </p:cNvPr>
          <p:cNvSpPr>
            <a:spLocks noGrp="1"/>
          </p:cNvSpPr>
          <p:nvPr>
            <p:ph idx="1"/>
          </p:nvPr>
        </p:nvSpPr>
        <p:spPr/>
        <p:txBody>
          <a:bodyPr/>
          <a:lstStyle/>
          <a:p>
            <a:r>
              <a:rPr lang="en-US" dirty="0"/>
              <a:t>Singleton</a:t>
            </a:r>
          </a:p>
          <a:p>
            <a:r>
              <a:rPr lang="en-US" dirty="0"/>
              <a:t>Observer</a:t>
            </a:r>
          </a:p>
          <a:p>
            <a:r>
              <a:rPr lang="en-US" dirty="0"/>
              <a:t>Factory</a:t>
            </a:r>
          </a:p>
          <a:p>
            <a:r>
              <a:rPr lang="en-US" dirty="0"/>
              <a:t>Abstract Factory</a:t>
            </a:r>
          </a:p>
          <a:p>
            <a:r>
              <a:rPr lang="en-US" dirty="0"/>
              <a:t>Template Method</a:t>
            </a:r>
          </a:p>
          <a:p>
            <a:r>
              <a:rPr lang="en-US" dirty="0"/>
              <a:t>Microservices</a:t>
            </a:r>
          </a:p>
        </p:txBody>
      </p:sp>
    </p:spTree>
    <p:extLst>
      <p:ext uri="{BB962C8B-B14F-4D97-AF65-F5344CB8AC3E}">
        <p14:creationId xmlns:p14="http://schemas.microsoft.com/office/powerpoint/2010/main" val="123069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78168-BFB2-709E-ACF0-DBCDD804F2F3}"/>
              </a:ext>
            </a:extLst>
          </p:cNvPr>
          <p:cNvSpPr>
            <a:spLocks noGrp="1"/>
          </p:cNvSpPr>
          <p:nvPr>
            <p:ph type="title"/>
          </p:nvPr>
        </p:nvSpPr>
        <p:spPr/>
        <p:txBody>
          <a:bodyPr/>
          <a:lstStyle/>
          <a:p>
            <a:r>
              <a:rPr lang="en-US" dirty="0"/>
              <a:t>Singleton Pattern</a:t>
            </a:r>
          </a:p>
        </p:txBody>
      </p:sp>
      <p:sp>
        <p:nvSpPr>
          <p:cNvPr id="3" name="Text Placeholder 2">
            <a:extLst>
              <a:ext uri="{FF2B5EF4-FFF2-40B4-BE49-F238E27FC236}">
                <a16:creationId xmlns:a16="http://schemas.microsoft.com/office/drawing/2014/main" id="{4786B2F1-D33F-3443-1B8E-6C53216F4D9D}"/>
              </a:ext>
            </a:extLst>
          </p:cNvPr>
          <p:cNvSpPr>
            <a:spLocks noGrp="1"/>
          </p:cNvSpPr>
          <p:nvPr>
            <p:ph type="body" idx="1"/>
          </p:nvPr>
        </p:nvSpPr>
        <p:spPr/>
        <p:txBody>
          <a:bodyPr/>
          <a:lstStyle/>
          <a:p>
            <a:r>
              <a:rPr lang="en-US" dirty="0"/>
              <a:t>Reevaluating Software Design Patterns</a:t>
            </a:r>
          </a:p>
        </p:txBody>
      </p:sp>
    </p:spTree>
    <p:extLst>
      <p:ext uri="{BB962C8B-B14F-4D97-AF65-F5344CB8AC3E}">
        <p14:creationId xmlns:p14="http://schemas.microsoft.com/office/powerpoint/2010/main" val="1342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Tree>
    <p:extLst>
      <p:ext uri="{BB962C8B-B14F-4D97-AF65-F5344CB8AC3E}">
        <p14:creationId xmlns:p14="http://schemas.microsoft.com/office/powerpoint/2010/main" val="2350633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
        <p:nvSpPr>
          <p:cNvPr id="4" name="Rectangle: Rounded Corners 3">
            <a:extLst>
              <a:ext uri="{FF2B5EF4-FFF2-40B4-BE49-F238E27FC236}">
                <a16:creationId xmlns:a16="http://schemas.microsoft.com/office/drawing/2014/main" id="{38397F80-5689-A1F3-33BA-D161B6FE5760}"/>
              </a:ext>
            </a:extLst>
          </p:cNvPr>
          <p:cNvSpPr/>
          <p:nvPr/>
        </p:nvSpPr>
        <p:spPr>
          <a:xfrm>
            <a:off x="4409302" y="210343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a:t>
            </a:r>
          </a:p>
        </p:txBody>
      </p:sp>
    </p:spTree>
    <p:extLst>
      <p:ext uri="{BB962C8B-B14F-4D97-AF65-F5344CB8AC3E}">
        <p14:creationId xmlns:p14="http://schemas.microsoft.com/office/powerpoint/2010/main" val="2563511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
        <p:nvSpPr>
          <p:cNvPr id="4" name="Rectangle: Rounded Corners 3">
            <a:extLst>
              <a:ext uri="{FF2B5EF4-FFF2-40B4-BE49-F238E27FC236}">
                <a16:creationId xmlns:a16="http://schemas.microsoft.com/office/drawing/2014/main" id="{38397F80-5689-A1F3-33BA-D161B6FE5760}"/>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a:t>
            </a:r>
          </a:p>
        </p:txBody>
      </p:sp>
      <p:sp>
        <p:nvSpPr>
          <p:cNvPr id="5" name="Rectangle: Rounded Corners 4">
            <a:extLst>
              <a:ext uri="{FF2B5EF4-FFF2-40B4-BE49-F238E27FC236}">
                <a16:creationId xmlns:a16="http://schemas.microsoft.com/office/drawing/2014/main" id="{51E766C3-BE59-3681-9D86-75EF8DF39573}"/>
              </a:ext>
            </a:extLst>
          </p:cNvPr>
          <p:cNvSpPr/>
          <p:nvPr/>
        </p:nvSpPr>
        <p:spPr>
          <a:xfrm>
            <a:off x="8460258" y="210343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Tree>
    <p:extLst>
      <p:ext uri="{BB962C8B-B14F-4D97-AF65-F5344CB8AC3E}">
        <p14:creationId xmlns:p14="http://schemas.microsoft.com/office/powerpoint/2010/main" val="30265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
        <p:nvSpPr>
          <p:cNvPr id="4" name="Rectangle: Rounded Corners 3">
            <a:extLst>
              <a:ext uri="{FF2B5EF4-FFF2-40B4-BE49-F238E27FC236}">
                <a16:creationId xmlns:a16="http://schemas.microsoft.com/office/drawing/2014/main" id="{38397F80-5689-A1F3-33BA-D161B6FE5760}"/>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a:t>
            </a:r>
          </a:p>
        </p:txBody>
      </p:sp>
      <p:sp>
        <p:nvSpPr>
          <p:cNvPr id="5" name="Rectangle: Rounded Corners 4">
            <a:extLst>
              <a:ext uri="{FF2B5EF4-FFF2-40B4-BE49-F238E27FC236}">
                <a16:creationId xmlns:a16="http://schemas.microsoft.com/office/drawing/2014/main" id="{51E766C3-BE59-3681-9D86-75EF8DF39573}"/>
              </a:ext>
            </a:extLst>
          </p:cNvPr>
          <p:cNvSpPr/>
          <p:nvPr/>
        </p:nvSpPr>
        <p:spPr>
          <a:xfrm>
            <a:off x="8460258" y="2103436"/>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3CE23FB0-B00F-572F-792E-FF55CE98DBED}"/>
              </a:ext>
            </a:extLst>
          </p:cNvPr>
          <p:cNvSpPr/>
          <p:nvPr/>
        </p:nvSpPr>
        <p:spPr>
          <a:xfrm>
            <a:off x="2238632" y="404756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Private Constructor</a:t>
            </a:r>
          </a:p>
        </p:txBody>
      </p:sp>
    </p:spTree>
    <p:extLst>
      <p:ext uri="{BB962C8B-B14F-4D97-AF65-F5344CB8AC3E}">
        <p14:creationId xmlns:p14="http://schemas.microsoft.com/office/powerpoint/2010/main" val="2439446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
        <p:nvSpPr>
          <p:cNvPr id="4" name="Rectangle: Rounded Corners 3">
            <a:extLst>
              <a:ext uri="{FF2B5EF4-FFF2-40B4-BE49-F238E27FC236}">
                <a16:creationId xmlns:a16="http://schemas.microsoft.com/office/drawing/2014/main" id="{38397F80-5689-A1F3-33BA-D161B6FE5760}"/>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a:t>
            </a:r>
          </a:p>
        </p:txBody>
      </p:sp>
      <p:sp>
        <p:nvSpPr>
          <p:cNvPr id="5" name="Rectangle: Rounded Corners 4">
            <a:extLst>
              <a:ext uri="{FF2B5EF4-FFF2-40B4-BE49-F238E27FC236}">
                <a16:creationId xmlns:a16="http://schemas.microsoft.com/office/drawing/2014/main" id="{51E766C3-BE59-3681-9D86-75EF8DF39573}"/>
              </a:ext>
            </a:extLst>
          </p:cNvPr>
          <p:cNvSpPr/>
          <p:nvPr/>
        </p:nvSpPr>
        <p:spPr>
          <a:xfrm>
            <a:off x="8460258" y="2103436"/>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3CE23FB0-B00F-572F-792E-FF55CE98DBED}"/>
              </a:ext>
            </a:extLst>
          </p:cNvPr>
          <p:cNvSpPr/>
          <p:nvPr/>
        </p:nvSpPr>
        <p:spPr>
          <a:xfrm>
            <a:off x="2238632" y="404756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Private Constructor</a:t>
            </a:r>
          </a:p>
        </p:txBody>
      </p:sp>
      <p:sp>
        <p:nvSpPr>
          <p:cNvPr id="7" name="Rectangle: Rounded Corners 6">
            <a:extLst>
              <a:ext uri="{FF2B5EF4-FFF2-40B4-BE49-F238E27FC236}">
                <a16:creationId xmlns:a16="http://schemas.microsoft.com/office/drawing/2014/main" id="{E5054A13-8319-0E50-AA19-B9B221531B17}"/>
              </a:ext>
            </a:extLst>
          </p:cNvPr>
          <p:cNvSpPr/>
          <p:nvPr/>
        </p:nvSpPr>
        <p:spPr>
          <a:xfrm>
            <a:off x="6289588" y="404756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Static Instance Method/Property</a:t>
            </a:r>
          </a:p>
        </p:txBody>
      </p:sp>
    </p:spTree>
    <p:extLst>
      <p:ext uri="{BB962C8B-B14F-4D97-AF65-F5344CB8AC3E}">
        <p14:creationId xmlns:p14="http://schemas.microsoft.com/office/powerpoint/2010/main" val="3631088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B8A-E918-A2DF-BADD-A783BCCE6DF5}"/>
              </a:ext>
            </a:extLst>
          </p:cNvPr>
          <p:cNvSpPr>
            <a:spLocks noGrp="1"/>
          </p:cNvSpPr>
          <p:nvPr>
            <p:ph type="title"/>
          </p:nvPr>
        </p:nvSpPr>
        <p:spPr/>
        <p:txBody>
          <a:bodyPr/>
          <a:lstStyle/>
          <a:p>
            <a:r>
              <a:rPr lang="en-US" dirty="0"/>
              <a:t>Singleton Pattern</a:t>
            </a:r>
          </a:p>
        </p:txBody>
      </p:sp>
      <p:sp>
        <p:nvSpPr>
          <p:cNvPr id="3" name="Rectangle: Rounded Corners 2">
            <a:extLst>
              <a:ext uri="{FF2B5EF4-FFF2-40B4-BE49-F238E27FC236}">
                <a16:creationId xmlns:a16="http://schemas.microsoft.com/office/drawing/2014/main" id="{36EAA0F7-6BA7-F4FA-8FCC-669A31DF7772}"/>
              </a:ext>
            </a:extLst>
          </p:cNvPr>
          <p:cNvSpPr/>
          <p:nvPr/>
        </p:nvSpPr>
        <p:spPr>
          <a:xfrm>
            <a:off x="358346" y="2137719"/>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Single Instance</a:t>
            </a:r>
          </a:p>
        </p:txBody>
      </p:sp>
      <p:sp>
        <p:nvSpPr>
          <p:cNvPr id="4" name="Rectangle: Rounded Corners 3">
            <a:extLst>
              <a:ext uri="{FF2B5EF4-FFF2-40B4-BE49-F238E27FC236}">
                <a16:creationId xmlns:a16="http://schemas.microsoft.com/office/drawing/2014/main" id="{38397F80-5689-A1F3-33BA-D161B6FE5760}"/>
              </a:ext>
            </a:extLst>
          </p:cNvPr>
          <p:cNvSpPr/>
          <p:nvPr/>
        </p:nvSpPr>
        <p:spPr>
          <a:xfrm>
            <a:off x="4409302" y="210343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a:t>
            </a:r>
          </a:p>
        </p:txBody>
      </p:sp>
      <p:sp>
        <p:nvSpPr>
          <p:cNvPr id="5" name="Rectangle: Rounded Corners 4">
            <a:extLst>
              <a:ext uri="{FF2B5EF4-FFF2-40B4-BE49-F238E27FC236}">
                <a16:creationId xmlns:a16="http://schemas.microsoft.com/office/drawing/2014/main" id="{51E766C3-BE59-3681-9D86-75EF8DF39573}"/>
              </a:ext>
            </a:extLst>
          </p:cNvPr>
          <p:cNvSpPr/>
          <p:nvPr/>
        </p:nvSpPr>
        <p:spPr>
          <a:xfrm>
            <a:off x="8460258" y="210343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3CE23FB0-B00F-572F-792E-FF55CE98DBED}"/>
              </a:ext>
            </a:extLst>
          </p:cNvPr>
          <p:cNvSpPr/>
          <p:nvPr/>
        </p:nvSpPr>
        <p:spPr>
          <a:xfrm>
            <a:off x="2238632" y="404756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Private Constructor</a:t>
            </a:r>
          </a:p>
        </p:txBody>
      </p:sp>
      <p:sp>
        <p:nvSpPr>
          <p:cNvPr id="7" name="Rectangle: Rounded Corners 6">
            <a:extLst>
              <a:ext uri="{FF2B5EF4-FFF2-40B4-BE49-F238E27FC236}">
                <a16:creationId xmlns:a16="http://schemas.microsoft.com/office/drawing/2014/main" id="{E5054A13-8319-0E50-AA19-B9B221531B17}"/>
              </a:ext>
            </a:extLst>
          </p:cNvPr>
          <p:cNvSpPr/>
          <p:nvPr/>
        </p:nvSpPr>
        <p:spPr>
          <a:xfrm>
            <a:off x="6289588" y="404756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Static Instance Method/Property</a:t>
            </a:r>
          </a:p>
        </p:txBody>
      </p:sp>
    </p:spTree>
    <p:extLst>
      <p:ext uri="{BB962C8B-B14F-4D97-AF65-F5344CB8AC3E}">
        <p14:creationId xmlns:p14="http://schemas.microsoft.com/office/powerpoint/2010/main" val="2599352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C39376-1BCB-F355-4E17-B83D8F66A9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562" y="406052"/>
            <a:ext cx="5725438" cy="5725438"/>
          </a:xfrm>
          <a:prstGeom prst="rect">
            <a:avLst/>
          </a:prstGeom>
        </p:spPr>
      </p:pic>
      <p:sp>
        <p:nvSpPr>
          <p:cNvPr id="4" name="TextBox 3">
            <a:extLst>
              <a:ext uri="{FF2B5EF4-FFF2-40B4-BE49-F238E27FC236}">
                <a16:creationId xmlns:a16="http://schemas.microsoft.com/office/drawing/2014/main" id="{CCD5273F-052D-9E04-BF1B-52F1950B4302}"/>
              </a:ext>
            </a:extLst>
          </p:cNvPr>
          <p:cNvSpPr txBox="1"/>
          <p:nvPr/>
        </p:nvSpPr>
        <p:spPr>
          <a:xfrm>
            <a:off x="6488482" y="2136338"/>
            <a:ext cx="5498926" cy="2585323"/>
          </a:xfrm>
          <a:prstGeom prst="rect">
            <a:avLst/>
          </a:prstGeom>
          <a:noFill/>
        </p:spPr>
        <p:txBody>
          <a:bodyPr wrap="square" rtlCol="0">
            <a:spAutoFit/>
          </a:bodyPr>
          <a:lstStyle/>
          <a:p>
            <a:r>
              <a:rPr lang="en-US" sz="5400" dirty="0">
                <a:solidFill>
                  <a:srgbClr val="FEFE00"/>
                </a:solidFill>
                <a:latin typeface="Kamerik205 8" panose="020B0803030600020004" pitchFamily="34" charset="0"/>
              </a:rPr>
              <a:t>Demo: Singleton Pattern</a:t>
            </a:r>
          </a:p>
        </p:txBody>
      </p:sp>
    </p:spTree>
    <p:extLst>
      <p:ext uri="{BB962C8B-B14F-4D97-AF65-F5344CB8AC3E}">
        <p14:creationId xmlns:p14="http://schemas.microsoft.com/office/powerpoint/2010/main" val="2901384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Tree>
    <p:extLst>
      <p:ext uri="{BB962C8B-B14F-4D97-AF65-F5344CB8AC3E}">
        <p14:creationId xmlns:p14="http://schemas.microsoft.com/office/powerpoint/2010/main" val="2222230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Tree>
    <p:extLst>
      <p:ext uri="{BB962C8B-B14F-4D97-AF65-F5344CB8AC3E}">
        <p14:creationId xmlns:p14="http://schemas.microsoft.com/office/powerpoint/2010/main" val="1226805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
        <p:nvSpPr>
          <p:cNvPr id="5" name="Rectangle: Rounded Corners 4">
            <a:extLst>
              <a:ext uri="{FF2B5EF4-FFF2-40B4-BE49-F238E27FC236}">
                <a16:creationId xmlns:a16="http://schemas.microsoft.com/office/drawing/2014/main" id="{595B8D55-5E89-498E-BCAE-E4E21DA2CDDA}"/>
              </a:ext>
            </a:extLst>
          </p:cNvPr>
          <p:cNvSpPr/>
          <p:nvPr/>
        </p:nvSpPr>
        <p:spPr>
          <a:xfrm>
            <a:off x="8460258" y="210343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Tree>
    <p:extLst>
      <p:ext uri="{BB962C8B-B14F-4D97-AF65-F5344CB8AC3E}">
        <p14:creationId xmlns:p14="http://schemas.microsoft.com/office/powerpoint/2010/main" val="17540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
        <p:nvSpPr>
          <p:cNvPr id="5" name="Rectangle: Rounded Corners 4">
            <a:extLst>
              <a:ext uri="{FF2B5EF4-FFF2-40B4-BE49-F238E27FC236}">
                <a16:creationId xmlns:a16="http://schemas.microsoft.com/office/drawing/2014/main" id="{595B8D55-5E89-498E-BCAE-E4E21DA2CDDA}"/>
              </a:ext>
            </a:extLst>
          </p:cNvPr>
          <p:cNvSpPr/>
          <p:nvPr/>
        </p:nvSpPr>
        <p:spPr>
          <a:xfrm>
            <a:off x="8460258" y="2103436"/>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B8016B65-7458-C533-4CE8-798D3AE05B4F}"/>
              </a:ext>
            </a:extLst>
          </p:cNvPr>
          <p:cNvSpPr/>
          <p:nvPr/>
        </p:nvSpPr>
        <p:spPr>
          <a:xfrm>
            <a:off x="358346" y="4047565"/>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Instance Reusability</a:t>
            </a:r>
          </a:p>
        </p:txBody>
      </p:sp>
    </p:spTree>
    <p:extLst>
      <p:ext uri="{BB962C8B-B14F-4D97-AF65-F5344CB8AC3E}">
        <p14:creationId xmlns:p14="http://schemas.microsoft.com/office/powerpoint/2010/main" val="708599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
        <p:nvSpPr>
          <p:cNvPr id="5" name="Rectangle: Rounded Corners 4">
            <a:extLst>
              <a:ext uri="{FF2B5EF4-FFF2-40B4-BE49-F238E27FC236}">
                <a16:creationId xmlns:a16="http://schemas.microsoft.com/office/drawing/2014/main" id="{595B8D55-5E89-498E-BCAE-E4E21DA2CDDA}"/>
              </a:ext>
            </a:extLst>
          </p:cNvPr>
          <p:cNvSpPr/>
          <p:nvPr/>
        </p:nvSpPr>
        <p:spPr>
          <a:xfrm>
            <a:off x="8460258" y="2103436"/>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B8016B65-7458-C533-4CE8-798D3AE05B4F}"/>
              </a:ext>
            </a:extLst>
          </p:cNvPr>
          <p:cNvSpPr/>
          <p:nvPr/>
        </p:nvSpPr>
        <p:spPr>
          <a:xfrm>
            <a:off x="358346" y="4047565"/>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Instance Reusability</a:t>
            </a:r>
          </a:p>
        </p:txBody>
      </p:sp>
      <p:sp>
        <p:nvSpPr>
          <p:cNvPr id="7" name="Rectangle: Rounded Corners 6">
            <a:extLst>
              <a:ext uri="{FF2B5EF4-FFF2-40B4-BE49-F238E27FC236}">
                <a16:creationId xmlns:a16="http://schemas.microsoft.com/office/drawing/2014/main" id="{627A5E8F-75A6-30EB-D71A-635107F5C52C}"/>
              </a:ext>
            </a:extLst>
          </p:cNvPr>
          <p:cNvSpPr/>
          <p:nvPr/>
        </p:nvSpPr>
        <p:spPr>
          <a:xfrm>
            <a:off x="4409301" y="4047565"/>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Straightforward Usage</a:t>
            </a:r>
          </a:p>
        </p:txBody>
      </p:sp>
    </p:spTree>
    <p:extLst>
      <p:ext uri="{BB962C8B-B14F-4D97-AF65-F5344CB8AC3E}">
        <p14:creationId xmlns:p14="http://schemas.microsoft.com/office/powerpoint/2010/main" val="2883013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
        <p:nvSpPr>
          <p:cNvPr id="5" name="Rectangle: Rounded Corners 4">
            <a:extLst>
              <a:ext uri="{FF2B5EF4-FFF2-40B4-BE49-F238E27FC236}">
                <a16:creationId xmlns:a16="http://schemas.microsoft.com/office/drawing/2014/main" id="{595B8D55-5E89-498E-BCAE-E4E21DA2CDDA}"/>
              </a:ext>
            </a:extLst>
          </p:cNvPr>
          <p:cNvSpPr/>
          <p:nvPr/>
        </p:nvSpPr>
        <p:spPr>
          <a:xfrm>
            <a:off x="8460258" y="2103436"/>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B8016B65-7458-C533-4CE8-798D3AE05B4F}"/>
              </a:ext>
            </a:extLst>
          </p:cNvPr>
          <p:cNvSpPr/>
          <p:nvPr/>
        </p:nvSpPr>
        <p:spPr>
          <a:xfrm>
            <a:off x="358346" y="4047565"/>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Instance Reusability</a:t>
            </a:r>
          </a:p>
        </p:txBody>
      </p:sp>
      <p:sp>
        <p:nvSpPr>
          <p:cNvPr id="7" name="Rectangle: Rounded Corners 6">
            <a:extLst>
              <a:ext uri="{FF2B5EF4-FFF2-40B4-BE49-F238E27FC236}">
                <a16:creationId xmlns:a16="http://schemas.microsoft.com/office/drawing/2014/main" id="{627A5E8F-75A6-30EB-D71A-635107F5C52C}"/>
              </a:ext>
            </a:extLst>
          </p:cNvPr>
          <p:cNvSpPr/>
          <p:nvPr/>
        </p:nvSpPr>
        <p:spPr>
          <a:xfrm>
            <a:off x="4409301" y="4047565"/>
            <a:ext cx="3373395" cy="1325563"/>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Straightforward Usage</a:t>
            </a:r>
          </a:p>
        </p:txBody>
      </p:sp>
      <p:sp>
        <p:nvSpPr>
          <p:cNvPr id="8" name="Rectangle: Rounded Corners 7">
            <a:extLst>
              <a:ext uri="{FF2B5EF4-FFF2-40B4-BE49-F238E27FC236}">
                <a16:creationId xmlns:a16="http://schemas.microsoft.com/office/drawing/2014/main" id="{458BE42B-AC41-B23F-F202-50CF60CEEA88}"/>
              </a:ext>
            </a:extLst>
          </p:cNvPr>
          <p:cNvSpPr/>
          <p:nvPr/>
        </p:nvSpPr>
        <p:spPr>
          <a:xfrm>
            <a:off x="8460256" y="4018960"/>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Simple Initialization</a:t>
            </a:r>
          </a:p>
        </p:txBody>
      </p:sp>
    </p:spTree>
    <p:extLst>
      <p:ext uri="{BB962C8B-B14F-4D97-AF65-F5344CB8AC3E}">
        <p14:creationId xmlns:p14="http://schemas.microsoft.com/office/powerpoint/2010/main" val="1299549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1578-6D3F-B609-0E73-268DB224C7DD}"/>
              </a:ext>
            </a:extLst>
          </p:cNvPr>
          <p:cNvSpPr>
            <a:spLocks noGrp="1"/>
          </p:cNvSpPr>
          <p:nvPr>
            <p:ph type="title"/>
          </p:nvPr>
        </p:nvSpPr>
        <p:spPr/>
        <p:txBody>
          <a:bodyPr/>
          <a:lstStyle/>
          <a:p>
            <a:r>
              <a:rPr lang="en-US" dirty="0"/>
              <a:t>Singleton Pattern: The Good</a:t>
            </a:r>
          </a:p>
        </p:txBody>
      </p:sp>
      <p:sp>
        <p:nvSpPr>
          <p:cNvPr id="3" name="Rectangle: Rounded Corners 2">
            <a:extLst>
              <a:ext uri="{FF2B5EF4-FFF2-40B4-BE49-F238E27FC236}">
                <a16:creationId xmlns:a16="http://schemas.microsoft.com/office/drawing/2014/main" id="{B3208043-2C85-FD87-6B79-CF8F75277A4A}"/>
              </a:ext>
            </a:extLst>
          </p:cNvPr>
          <p:cNvSpPr/>
          <p:nvPr/>
        </p:nvSpPr>
        <p:spPr>
          <a:xfrm>
            <a:off x="358346" y="2137719"/>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Centralized Logging</a:t>
            </a:r>
          </a:p>
        </p:txBody>
      </p:sp>
      <p:sp>
        <p:nvSpPr>
          <p:cNvPr id="4" name="Rectangle: Rounded Corners 3">
            <a:extLst>
              <a:ext uri="{FF2B5EF4-FFF2-40B4-BE49-F238E27FC236}">
                <a16:creationId xmlns:a16="http://schemas.microsoft.com/office/drawing/2014/main" id="{A5E3B151-EE4D-FA2E-FCAB-617EA2E634AD}"/>
              </a:ext>
            </a:extLst>
          </p:cNvPr>
          <p:cNvSpPr/>
          <p:nvPr/>
        </p:nvSpPr>
        <p:spPr>
          <a:xfrm>
            <a:off x="4409302" y="2103437"/>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Access to Logger</a:t>
            </a:r>
          </a:p>
        </p:txBody>
      </p:sp>
      <p:sp>
        <p:nvSpPr>
          <p:cNvPr id="5" name="Rectangle: Rounded Corners 4">
            <a:extLst>
              <a:ext uri="{FF2B5EF4-FFF2-40B4-BE49-F238E27FC236}">
                <a16:creationId xmlns:a16="http://schemas.microsoft.com/office/drawing/2014/main" id="{595B8D55-5E89-498E-BCAE-E4E21DA2CDDA}"/>
              </a:ext>
            </a:extLst>
          </p:cNvPr>
          <p:cNvSpPr/>
          <p:nvPr/>
        </p:nvSpPr>
        <p:spPr>
          <a:xfrm>
            <a:off x="8460258" y="2103436"/>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Lazy Initialization</a:t>
            </a:r>
          </a:p>
        </p:txBody>
      </p:sp>
      <p:sp>
        <p:nvSpPr>
          <p:cNvPr id="6" name="Rectangle: Rounded Corners 5">
            <a:extLst>
              <a:ext uri="{FF2B5EF4-FFF2-40B4-BE49-F238E27FC236}">
                <a16:creationId xmlns:a16="http://schemas.microsoft.com/office/drawing/2014/main" id="{B8016B65-7458-C533-4CE8-798D3AE05B4F}"/>
              </a:ext>
            </a:extLst>
          </p:cNvPr>
          <p:cNvSpPr/>
          <p:nvPr/>
        </p:nvSpPr>
        <p:spPr>
          <a:xfrm>
            <a:off x="358346" y="4047565"/>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Instance Reusability</a:t>
            </a:r>
          </a:p>
        </p:txBody>
      </p:sp>
      <p:sp>
        <p:nvSpPr>
          <p:cNvPr id="7" name="Rectangle: Rounded Corners 6">
            <a:extLst>
              <a:ext uri="{FF2B5EF4-FFF2-40B4-BE49-F238E27FC236}">
                <a16:creationId xmlns:a16="http://schemas.microsoft.com/office/drawing/2014/main" id="{627A5E8F-75A6-30EB-D71A-635107F5C52C}"/>
              </a:ext>
            </a:extLst>
          </p:cNvPr>
          <p:cNvSpPr/>
          <p:nvPr/>
        </p:nvSpPr>
        <p:spPr>
          <a:xfrm>
            <a:off x="4409301" y="4047565"/>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Straightforward Usage</a:t>
            </a:r>
          </a:p>
        </p:txBody>
      </p:sp>
      <p:sp>
        <p:nvSpPr>
          <p:cNvPr id="8" name="Rectangle: Rounded Corners 7">
            <a:extLst>
              <a:ext uri="{FF2B5EF4-FFF2-40B4-BE49-F238E27FC236}">
                <a16:creationId xmlns:a16="http://schemas.microsoft.com/office/drawing/2014/main" id="{458BE42B-AC41-B23F-F202-50CF60CEEA88}"/>
              </a:ext>
            </a:extLst>
          </p:cNvPr>
          <p:cNvSpPr/>
          <p:nvPr/>
        </p:nvSpPr>
        <p:spPr>
          <a:xfrm>
            <a:off x="8460256" y="4018960"/>
            <a:ext cx="3373395" cy="1325563"/>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Simple Initialization</a:t>
            </a:r>
          </a:p>
        </p:txBody>
      </p:sp>
    </p:spTree>
    <p:extLst>
      <p:ext uri="{BB962C8B-B14F-4D97-AF65-F5344CB8AC3E}">
        <p14:creationId xmlns:p14="http://schemas.microsoft.com/office/powerpoint/2010/main" val="36079714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Tree>
    <p:extLst>
      <p:ext uri="{BB962C8B-B14F-4D97-AF65-F5344CB8AC3E}">
        <p14:creationId xmlns:p14="http://schemas.microsoft.com/office/powerpoint/2010/main" val="826706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Tree>
    <p:extLst>
      <p:ext uri="{BB962C8B-B14F-4D97-AF65-F5344CB8AC3E}">
        <p14:creationId xmlns:p14="http://schemas.microsoft.com/office/powerpoint/2010/main" val="27464416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Tree>
    <p:extLst>
      <p:ext uri="{BB962C8B-B14F-4D97-AF65-F5344CB8AC3E}">
        <p14:creationId xmlns:p14="http://schemas.microsoft.com/office/powerpoint/2010/main" val="1030007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
        <p:nvSpPr>
          <p:cNvPr id="11" name="Rectangle: Rounded Corners 10">
            <a:extLst>
              <a:ext uri="{FF2B5EF4-FFF2-40B4-BE49-F238E27FC236}">
                <a16:creationId xmlns:a16="http://schemas.microsoft.com/office/drawing/2014/main" id="{88BE2234-231D-36EF-92DD-4DDC5283FC13}"/>
              </a:ext>
            </a:extLst>
          </p:cNvPr>
          <p:cNvSpPr/>
          <p:nvPr/>
        </p:nvSpPr>
        <p:spPr>
          <a:xfrm>
            <a:off x="9175123"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Hidden Dependencies</a:t>
            </a:r>
          </a:p>
        </p:txBody>
      </p:sp>
    </p:spTree>
    <p:extLst>
      <p:ext uri="{BB962C8B-B14F-4D97-AF65-F5344CB8AC3E}">
        <p14:creationId xmlns:p14="http://schemas.microsoft.com/office/powerpoint/2010/main" val="3744312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
        <p:nvSpPr>
          <p:cNvPr id="11" name="Rectangle: Rounded Corners 10">
            <a:extLst>
              <a:ext uri="{FF2B5EF4-FFF2-40B4-BE49-F238E27FC236}">
                <a16:creationId xmlns:a16="http://schemas.microsoft.com/office/drawing/2014/main" id="{88BE2234-231D-36EF-92DD-4DDC5283FC13}"/>
              </a:ext>
            </a:extLst>
          </p:cNvPr>
          <p:cNvSpPr/>
          <p:nvPr/>
        </p:nvSpPr>
        <p:spPr>
          <a:xfrm>
            <a:off x="9175123"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Hidden Dependencies</a:t>
            </a:r>
          </a:p>
        </p:txBody>
      </p:sp>
      <p:sp>
        <p:nvSpPr>
          <p:cNvPr id="18" name="Rectangle: Rounded Corners 17">
            <a:extLst>
              <a:ext uri="{FF2B5EF4-FFF2-40B4-BE49-F238E27FC236}">
                <a16:creationId xmlns:a16="http://schemas.microsoft.com/office/drawing/2014/main" id="{9A2E075D-FD3A-1DDE-6793-D329239F537E}"/>
              </a:ext>
            </a:extLst>
          </p:cNvPr>
          <p:cNvSpPr/>
          <p:nvPr/>
        </p:nvSpPr>
        <p:spPr>
          <a:xfrm>
            <a:off x="1773651"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Inflexible Initialization</a:t>
            </a:r>
          </a:p>
        </p:txBody>
      </p:sp>
    </p:spTree>
    <p:extLst>
      <p:ext uri="{BB962C8B-B14F-4D97-AF65-F5344CB8AC3E}">
        <p14:creationId xmlns:p14="http://schemas.microsoft.com/office/powerpoint/2010/main" val="4225369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
        <p:nvSpPr>
          <p:cNvPr id="11" name="Rectangle: Rounded Corners 10">
            <a:extLst>
              <a:ext uri="{FF2B5EF4-FFF2-40B4-BE49-F238E27FC236}">
                <a16:creationId xmlns:a16="http://schemas.microsoft.com/office/drawing/2014/main" id="{88BE2234-231D-36EF-92DD-4DDC5283FC13}"/>
              </a:ext>
            </a:extLst>
          </p:cNvPr>
          <p:cNvSpPr/>
          <p:nvPr/>
        </p:nvSpPr>
        <p:spPr>
          <a:xfrm>
            <a:off x="9175123"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Hidden Dependencies</a:t>
            </a:r>
          </a:p>
        </p:txBody>
      </p:sp>
      <p:sp>
        <p:nvSpPr>
          <p:cNvPr id="18" name="Rectangle: Rounded Corners 17">
            <a:extLst>
              <a:ext uri="{FF2B5EF4-FFF2-40B4-BE49-F238E27FC236}">
                <a16:creationId xmlns:a16="http://schemas.microsoft.com/office/drawing/2014/main" id="{9A2E075D-FD3A-1DDE-6793-D329239F537E}"/>
              </a:ext>
            </a:extLst>
          </p:cNvPr>
          <p:cNvSpPr/>
          <p:nvPr/>
        </p:nvSpPr>
        <p:spPr>
          <a:xfrm>
            <a:off x="1773651" y="3969165"/>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Inflexible Initialization</a:t>
            </a:r>
          </a:p>
        </p:txBody>
      </p:sp>
      <p:sp>
        <p:nvSpPr>
          <p:cNvPr id="19" name="Rectangle: Rounded Corners 18">
            <a:extLst>
              <a:ext uri="{FF2B5EF4-FFF2-40B4-BE49-F238E27FC236}">
                <a16:creationId xmlns:a16="http://schemas.microsoft.com/office/drawing/2014/main" id="{7DE29A71-2A63-26C1-BFF1-0CF4F38430B4}"/>
              </a:ext>
            </a:extLst>
          </p:cNvPr>
          <p:cNvSpPr/>
          <p:nvPr/>
        </p:nvSpPr>
        <p:spPr>
          <a:xfrm>
            <a:off x="4734240"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Non-Thread Safe Init</a:t>
            </a:r>
          </a:p>
        </p:txBody>
      </p:sp>
    </p:spTree>
    <p:extLst>
      <p:ext uri="{BB962C8B-B14F-4D97-AF65-F5344CB8AC3E}">
        <p14:creationId xmlns:p14="http://schemas.microsoft.com/office/powerpoint/2010/main" val="29488677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
        <p:nvSpPr>
          <p:cNvPr id="11" name="Rectangle: Rounded Corners 10">
            <a:extLst>
              <a:ext uri="{FF2B5EF4-FFF2-40B4-BE49-F238E27FC236}">
                <a16:creationId xmlns:a16="http://schemas.microsoft.com/office/drawing/2014/main" id="{88BE2234-231D-36EF-92DD-4DDC5283FC13}"/>
              </a:ext>
            </a:extLst>
          </p:cNvPr>
          <p:cNvSpPr/>
          <p:nvPr/>
        </p:nvSpPr>
        <p:spPr>
          <a:xfrm>
            <a:off x="9175123" y="2095386"/>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Hidden Dependencies</a:t>
            </a:r>
          </a:p>
        </p:txBody>
      </p:sp>
      <p:sp>
        <p:nvSpPr>
          <p:cNvPr id="18" name="Rectangle: Rounded Corners 17">
            <a:extLst>
              <a:ext uri="{FF2B5EF4-FFF2-40B4-BE49-F238E27FC236}">
                <a16:creationId xmlns:a16="http://schemas.microsoft.com/office/drawing/2014/main" id="{9A2E075D-FD3A-1DDE-6793-D329239F537E}"/>
              </a:ext>
            </a:extLst>
          </p:cNvPr>
          <p:cNvSpPr/>
          <p:nvPr/>
        </p:nvSpPr>
        <p:spPr>
          <a:xfrm>
            <a:off x="1773651" y="3969165"/>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Inflexible Initialization</a:t>
            </a:r>
          </a:p>
        </p:txBody>
      </p:sp>
      <p:sp>
        <p:nvSpPr>
          <p:cNvPr id="19" name="Rectangle: Rounded Corners 18">
            <a:extLst>
              <a:ext uri="{FF2B5EF4-FFF2-40B4-BE49-F238E27FC236}">
                <a16:creationId xmlns:a16="http://schemas.microsoft.com/office/drawing/2014/main" id="{7DE29A71-2A63-26C1-BFF1-0CF4F38430B4}"/>
              </a:ext>
            </a:extLst>
          </p:cNvPr>
          <p:cNvSpPr/>
          <p:nvPr/>
        </p:nvSpPr>
        <p:spPr>
          <a:xfrm>
            <a:off x="4734240" y="3969165"/>
            <a:ext cx="2723520" cy="1079614"/>
          </a:xfrm>
          <a:prstGeom prst="roundRect">
            <a:avLst/>
          </a:prstGeom>
          <a:solidFill>
            <a:srgbClr val="FF9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Non-Thread Safe Init</a:t>
            </a:r>
          </a:p>
        </p:txBody>
      </p:sp>
      <p:sp>
        <p:nvSpPr>
          <p:cNvPr id="20" name="Rectangle: Rounded Corners 19">
            <a:extLst>
              <a:ext uri="{FF2B5EF4-FFF2-40B4-BE49-F238E27FC236}">
                <a16:creationId xmlns:a16="http://schemas.microsoft.com/office/drawing/2014/main" id="{F1251473-7B3B-33DC-30AE-CE1775E1D6BE}"/>
              </a:ext>
            </a:extLst>
          </p:cNvPr>
          <p:cNvSpPr/>
          <p:nvPr/>
        </p:nvSpPr>
        <p:spPr>
          <a:xfrm>
            <a:off x="7694829"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Potential for Misuse</a:t>
            </a:r>
          </a:p>
        </p:txBody>
      </p:sp>
    </p:spTree>
    <p:extLst>
      <p:ext uri="{BB962C8B-B14F-4D97-AF65-F5344CB8AC3E}">
        <p14:creationId xmlns:p14="http://schemas.microsoft.com/office/powerpoint/2010/main" val="28906413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3757-7A81-5295-9C2D-D88E213A716F}"/>
              </a:ext>
            </a:extLst>
          </p:cNvPr>
          <p:cNvSpPr>
            <a:spLocks noGrp="1"/>
          </p:cNvSpPr>
          <p:nvPr>
            <p:ph type="title"/>
          </p:nvPr>
        </p:nvSpPr>
        <p:spPr/>
        <p:txBody>
          <a:bodyPr/>
          <a:lstStyle/>
          <a:p>
            <a:r>
              <a:rPr lang="en-US" dirty="0"/>
              <a:t>Singleton Pattern: The Bad</a:t>
            </a:r>
          </a:p>
        </p:txBody>
      </p:sp>
      <p:sp>
        <p:nvSpPr>
          <p:cNvPr id="3" name="Rectangle: Rounded Corners 2">
            <a:extLst>
              <a:ext uri="{FF2B5EF4-FFF2-40B4-BE49-F238E27FC236}">
                <a16:creationId xmlns:a16="http://schemas.microsoft.com/office/drawing/2014/main" id="{C72EB6ED-3DB0-A44A-FD5F-A91E4A222941}"/>
              </a:ext>
            </a:extLst>
          </p:cNvPr>
          <p:cNvSpPr/>
          <p:nvPr/>
        </p:nvSpPr>
        <p:spPr>
          <a:xfrm>
            <a:off x="293356"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Global State</a:t>
            </a:r>
          </a:p>
        </p:txBody>
      </p:sp>
      <p:sp>
        <p:nvSpPr>
          <p:cNvPr id="7" name="Rectangle: Rounded Corners 6">
            <a:extLst>
              <a:ext uri="{FF2B5EF4-FFF2-40B4-BE49-F238E27FC236}">
                <a16:creationId xmlns:a16="http://schemas.microsoft.com/office/drawing/2014/main" id="{AF327AF6-D7CF-1B26-5DB5-BE2FD849EB99}"/>
              </a:ext>
            </a:extLst>
          </p:cNvPr>
          <p:cNvSpPr/>
          <p:nvPr/>
        </p:nvSpPr>
        <p:spPr>
          <a:xfrm>
            <a:off x="3253945"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Tight Coupling</a:t>
            </a:r>
          </a:p>
        </p:txBody>
      </p:sp>
      <p:sp>
        <p:nvSpPr>
          <p:cNvPr id="10" name="Rectangle: Rounded Corners 9">
            <a:extLst>
              <a:ext uri="{FF2B5EF4-FFF2-40B4-BE49-F238E27FC236}">
                <a16:creationId xmlns:a16="http://schemas.microsoft.com/office/drawing/2014/main" id="{5554816C-66C8-25BD-20AE-4C7387577A64}"/>
              </a:ext>
            </a:extLst>
          </p:cNvPr>
          <p:cNvSpPr/>
          <p:nvPr/>
        </p:nvSpPr>
        <p:spPr>
          <a:xfrm>
            <a:off x="6214534"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Testing Challenges</a:t>
            </a:r>
          </a:p>
        </p:txBody>
      </p:sp>
      <p:sp>
        <p:nvSpPr>
          <p:cNvPr id="11" name="Rectangle: Rounded Corners 10">
            <a:extLst>
              <a:ext uri="{FF2B5EF4-FFF2-40B4-BE49-F238E27FC236}">
                <a16:creationId xmlns:a16="http://schemas.microsoft.com/office/drawing/2014/main" id="{88BE2234-231D-36EF-92DD-4DDC5283FC13}"/>
              </a:ext>
            </a:extLst>
          </p:cNvPr>
          <p:cNvSpPr/>
          <p:nvPr/>
        </p:nvSpPr>
        <p:spPr>
          <a:xfrm>
            <a:off x="9175123" y="2095386"/>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Hidden Dependencies</a:t>
            </a:r>
          </a:p>
        </p:txBody>
      </p:sp>
      <p:sp>
        <p:nvSpPr>
          <p:cNvPr id="18" name="Rectangle: Rounded Corners 17">
            <a:extLst>
              <a:ext uri="{FF2B5EF4-FFF2-40B4-BE49-F238E27FC236}">
                <a16:creationId xmlns:a16="http://schemas.microsoft.com/office/drawing/2014/main" id="{9A2E075D-FD3A-1DDE-6793-D329239F537E}"/>
              </a:ext>
            </a:extLst>
          </p:cNvPr>
          <p:cNvSpPr/>
          <p:nvPr/>
        </p:nvSpPr>
        <p:spPr>
          <a:xfrm>
            <a:off x="1773651"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Inflexible Initialization</a:t>
            </a:r>
          </a:p>
        </p:txBody>
      </p:sp>
      <p:sp>
        <p:nvSpPr>
          <p:cNvPr id="19" name="Rectangle: Rounded Corners 18">
            <a:extLst>
              <a:ext uri="{FF2B5EF4-FFF2-40B4-BE49-F238E27FC236}">
                <a16:creationId xmlns:a16="http://schemas.microsoft.com/office/drawing/2014/main" id="{7DE29A71-2A63-26C1-BFF1-0CF4F38430B4}"/>
              </a:ext>
            </a:extLst>
          </p:cNvPr>
          <p:cNvSpPr/>
          <p:nvPr/>
        </p:nvSpPr>
        <p:spPr>
          <a:xfrm>
            <a:off x="4734240"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Non-Thread Safe Init</a:t>
            </a:r>
          </a:p>
        </p:txBody>
      </p:sp>
      <p:sp>
        <p:nvSpPr>
          <p:cNvPr id="20" name="Rectangle: Rounded Corners 19">
            <a:extLst>
              <a:ext uri="{FF2B5EF4-FFF2-40B4-BE49-F238E27FC236}">
                <a16:creationId xmlns:a16="http://schemas.microsoft.com/office/drawing/2014/main" id="{F1251473-7B3B-33DC-30AE-CE1775E1D6BE}"/>
              </a:ext>
            </a:extLst>
          </p:cNvPr>
          <p:cNvSpPr/>
          <p:nvPr/>
        </p:nvSpPr>
        <p:spPr>
          <a:xfrm>
            <a:off x="7694829" y="3969165"/>
            <a:ext cx="2723520" cy="1079614"/>
          </a:xfrm>
          <a:prstGeom prst="roundRect">
            <a:avLst/>
          </a:prstGeom>
          <a:solidFill>
            <a:srgbClr val="FF9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Potential for Misuse</a:t>
            </a:r>
          </a:p>
        </p:txBody>
      </p:sp>
    </p:spTree>
    <p:extLst>
      <p:ext uri="{BB962C8B-B14F-4D97-AF65-F5344CB8AC3E}">
        <p14:creationId xmlns:p14="http://schemas.microsoft.com/office/powerpoint/2010/main" val="414264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D5576-746B-1ECE-11C9-B2392148CCFA}"/>
              </a:ext>
            </a:extLst>
          </p:cNvPr>
          <p:cNvSpPr>
            <a:spLocks noGrp="1"/>
          </p:cNvSpPr>
          <p:nvPr>
            <p:ph type="title"/>
          </p:nvPr>
        </p:nvSpPr>
        <p:spPr/>
        <p:txBody>
          <a:bodyPr/>
          <a:lstStyle/>
          <a:p>
            <a:r>
              <a:rPr lang="en-US" dirty="0"/>
              <a:t>Pattern 2 – The Observer Pattern</a:t>
            </a:r>
          </a:p>
        </p:txBody>
      </p:sp>
      <p:sp>
        <p:nvSpPr>
          <p:cNvPr id="3" name="Content Placeholder 2">
            <a:extLst>
              <a:ext uri="{FF2B5EF4-FFF2-40B4-BE49-F238E27FC236}">
                <a16:creationId xmlns:a16="http://schemas.microsoft.com/office/drawing/2014/main" id="{13102197-6438-2528-011F-D0DA20A27DF1}"/>
              </a:ext>
            </a:extLst>
          </p:cNvPr>
          <p:cNvSpPr>
            <a:spLocks noGrp="1"/>
          </p:cNvSpPr>
          <p:nvPr>
            <p:ph idx="1"/>
          </p:nvPr>
        </p:nvSpPr>
        <p:spPr/>
        <p:txBody>
          <a:bodyPr/>
          <a:lstStyle/>
          <a:p>
            <a:r>
              <a:rPr lang="en-US" dirty="0"/>
              <a:t>Introduction to the Observer Pattern</a:t>
            </a:r>
          </a:p>
          <a:p>
            <a:r>
              <a:rPr lang="en-US" dirty="0"/>
              <a:t>Instances where the Observer Pattern might contribute to performance bottlenecks</a:t>
            </a:r>
          </a:p>
          <a:p>
            <a:r>
              <a:rPr lang="en-US" dirty="0"/>
              <a:t>Discussion on potential drawbacks in certain scenarios</a:t>
            </a:r>
          </a:p>
        </p:txBody>
      </p:sp>
    </p:spTree>
    <p:extLst>
      <p:ext uri="{BB962C8B-B14F-4D97-AF65-F5344CB8AC3E}">
        <p14:creationId xmlns:p14="http://schemas.microsoft.com/office/powerpoint/2010/main" val="18875389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8DCB-9FC0-7336-CBBD-317A6F62414B}"/>
              </a:ext>
            </a:extLst>
          </p:cNvPr>
          <p:cNvSpPr>
            <a:spLocks noGrp="1"/>
          </p:cNvSpPr>
          <p:nvPr>
            <p:ph type="title"/>
          </p:nvPr>
        </p:nvSpPr>
        <p:spPr/>
        <p:txBody>
          <a:bodyPr/>
          <a:lstStyle/>
          <a:p>
            <a:r>
              <a:rPr lang="en-US" dirty="0"/>
              <a:t>Pattern 3 – The Factory Pattern</a:t>
            </a:r>
          </a:p>
        </p:txBody>
      </p:sp>
      <p:sp>
        <p:nvSpPr>
          <p:cNvPr id="3" name="Content Placeholder 2">
            <a:extLst>
              <a:ext uri="{FF2B5EF4-FFF2-40B4-BE49-F238E27FC236}">
                <a16:creationId xmlns:a16="http://schemas.microsoft.com/office/drawing/2014/main" id="{57E3829E-C3A8-0E57-F0B4-2A792A798FDA}"/>
              </a:ext>
            </a:extLst>
          </p:cNvPr>
          <p:cNvSpPr>
            <a:spLocks noGrp="1"/>
          </p:cNvSpPr>
          <p:nvPr>
            <p:ph idx="1"/>
          </p:nvPr>
        </p:nvSpPr>
        <p:spPr/>
        <p:txBody>
          <a:bodyPr/>
          <a:lstStyle/>
          <a:p>
            <a:r>
              <a:rPr lang="en-US" dirty="0"/>
              <a:t>Explanation of the Factory Pattern</a:t>
            </a:r>
          </a:p>
          <a:p>
            <a:r>
              <a:rPr lang="en-US" dirty="0"/>
              <a:t>Exploration of scenarios where the Factory pattern can result in intricate debugging sessions</a:t>
            </a:r>
          </a:p>
          <a:p>
            <a:r>
              <a:rPr lang="en-US" dirty="0"/>
              <a:t>Examples of increased complexity in certain contexts</a:t>
            </a:r>
          </a:p>
        </p:txBody>
      </p:sp>
    </p:spTree>
    <p:extLst>
      <p:ext uri="{BB962C8B-B14F-4D97-AF65-F5344CB8AC3E}">
        <p14:creationId xmlns:p14="http://schemas.microsoft.com/office/powerpoint/2010/main" val="3163212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C52A-A3F9-A3DF-160E-76FBF34371C2}"/>
              </a:ext>
            </a:extLst>
          </p:cNvPr>
          <p:cNvSpPr>
            <a:spLocks noGrp="1"/>
          </p:cNvSpPr>
          <p:nvPr>
            <p:ph type="title"/>
          </p:nvPr>
        </p:nvSpPr>
        <p:spPr/>
        <p:txBody>
          <a:bodyPr/>
          <a:lstStyle/>
          <a:p>
            <a:r>
              <a:rPr lang="en-US" dirty="0"/>
              <a:t>Pattern 4 – Abstract Factory Pattern</a:t>
            </a:r>
          </a:p>
        </p:txBody>
      </p:sp>
      <p:sp>
        <p:nvSpPr>
          <p:cNvPr id="3" name="Content Placeholder 2">
            <a:extLst>
              <a:ext uri="{FF2B5EF4-FFF2-40B4-BE49-F238E27FC236}">
                <a16:creationId xmlns:a16="http://schemas.microsoft.com/office/drawing/2014/main" id="{7967F212-50A2-047E-A246-EEDEE8DA252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24180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F9FD-5FB1-0E59-533A-7BA601C18423}"/>
              </a:ext>
            </a:extLst>
          </p:cNvPr>
          <p:cNvSpPr>
            <a:spLocks noGrp="1"/>
          </p:cNvSpPr>
          <p:nvPr>
            <p:ph type="title"/>
          </p:nvPr>
        </p:nvSpPr>
        <p:spPr/>
        <p:txBody>
          <a:bodyPr/>
          <a:lstStyle/>
          <a:p>
            <a:r>
              <a:rPr lang="en-US" dirty="0"/>
              <a:t>Template Method Pattern</a:t>
            </a:r>
          </a:p>
        </p:txBody>
      </p:sp>
      <p:sp>
        <p:nvSpPr>
          <p:cNvPr id="3" name="Content Placeholder 2">
            <a:extLst>
              <a:ext uri="{FF2B5EF4-FFF2-40B4-BE49-F238E27FC236}">
                <a16:creationId xmlns:a16="http://schemas.microsoft.com/office/drawing/2014/main" id="{559D4F37-2343-69E0-4075-E7E7D89A655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390688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714A-5AAD-C517-F0CE-A5F22248BE63}"/>
              </a:ext>
            </a:extLst>
          </p:cNvPr>
          <p:cNvSpPr>
            <a:spLocks noGrp="1"/>
          </p:cNvSpPr>
          <p:nvPr>
            <p:ph type="title"/>
          </p:nvPr>
        </p:nvSpPr>
        <p:spPr/>
        <p:txBody>
          <a:bodyPr/>
          <a:lstStyle/>
          <a:p>
            <a:r>
              <a:rPr lang="en-US" dirty="0"/>
              <a:t>Case Studies</a:t>
            </a:r>
          </a:p>
        </p:txBody>
      </p:sp>
      <p:sp>
        <p:nvSpPr>
          <p:cNvPr id="3" name="Content Placeholder 2">
            <a:extLst>
              <a:ext uri="{FF2B5EF4-FFF2-40B4-BE49-F238E27FC236}">
                <a16:creationId xmlns:a16="http://schemas.microsoft.com/office/drawing/2014/main" id="{CFF8B44B-E0EC-8F78-87D9-365951B6948C}"/>
              </a:ext>
            </a:extLst>
          </p:cNvPr>
          <p:cNvSpPr>
            <a:spLocks noGrp="1"/>
          </p:cNvSpPr>
          <p:nvPr>
            <p:ph idx="1"/>
          </p:nvPr>
        </p:nvSpPr>
        <p:spPr/>
        <p:txBody>
          <a:bodyPr/>
          <a:lstStyle/>
          <a:p>
            <a:r>
              <a:rPr lang="en-US" dirty="0"/>
              <a:t>Detailed case studies for each problematic pattern</a:t>
            </a:r>
          </a:p>
          <a:p>
            <a:r>
              <a:rPr lang="en-US" dirty="0"/>
              <a:t>Practical examples of the challenges faced and their impact on software development</a:t>
            </a:r>
          </a:p>
        </p:txBody>
      </p:sp>
    </p:spTree>
    <p:extLst>
      <p:ext uri="{BB962C8B-B14F-4D97-AF65-F5344CB8AC3E}">
        <p14:creationId xmlns:p14="http://schemas.microsoft.com/office/powerpoint/2010/main" val="22661102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A8900-63CE-FE15-139C-F6CBD4E04998}"/>
              </a:ext>
            </a:extLst>
          </p:cNvPr>
          <p:cNvSpPr>
            <a:spLocks noGrp="1"/>
          </p:cNvSpPr>
          <p:nvPr>
            <p:ph type="title"/>
          </p:nvPr>
        </p:nvSpPr>
        <p:spPr/>
        <p:txBody>
          <a:bodyPr/>
          <a:lstStyle/>
          <a:p>
            <a:r>
              <a:rPr lang="en-US" dirty="0"/>
              <a:t>The Importance of Context</a:t>
            </a:r>
          </a:p>
        </p:txBody>
      </p:sp>
      <p:sp>
        <p:nvSpPr>
          <p:cNvPr id="3" name="Content Placeholder 2">
            <a:extLst>
              <a:ext uri="{FF2B5EF4-FFF2-40B4-BE49-F238E27FC236}">
                <a16:creationId xmlns:a16="http://schemas.microsoft.com/office/drawing/2014/main" id="{7CB92FFB-197D-930A-0849-6A95EDAFA9E6}"/>
              </a:ext>
            </a:extLst>
          </p:cNvPr>
          <p:cNvSpPr>
            <a:spLocks noGrp="1"/>
          </p:cNvSpPr>
          <p:nvPr>
            <p:ph idx="1"/>
          </p:nvPr>
        </p:nvSpPr>
        <p:spPr/>
        <p:txBody>
          <a:bodyPr/>
          <a:lstStyle/>
          <a:p>
            <a:r>
              <a:rPr lang="en-US" dirty="0"/>
              <a:t>Emphasis on the context-dependent nature of design patterns</a:t>
            </a:r>
          </a:p>
          <a:p>
            <a:r>
              <a:rPr lang="en-US" dirty="0"/>
              <a:t>The need for careful consideration before blindly applying patterns</a:t>
            </a:r>
          </a:p>
        </p:txBody>
      </p:sp>
    </p:spTree>
    <p:extLst>
      <p:ext uri="{BB962C8B-B14F-4D97-AF65-F5344CB8AC3E}">
        <p14:creationId xmlns:p14="http://schemas.microsoft.com/office/powerpoint/2010/main" val="745787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AEBF0-8CE6-AC2D-8EF1-F65B2E25E290}"/>
              </a:ext>
            </a:extLst>
          </p:cNvPr>
          <p:cNvSpPr>
            <a:spLocks noGrp="1"/>
          </p:cNvSpPr>
          <p:nvPr>
            <p:ph type="title"/>
          </p:nvPr>
        </p:nvSpPr>
        <p:spPr/>
        <p:txBody>
          <a:bodyPr/>
          <a:lstStyle/>
          <a:p>
            <a:r>
              <a:rPr lang="en-US" dirty="0"/>
              <a:t>Guidelines for Pattern Selection</a:t>
            </a:r>
          </a:p>
        </p:txBody>
      </p:sp>
      <p:sp>
        <p:nvSpPr>
          <p:cNvPr id="3" name="Content Placeholder 2">
            <a:extLst>
              <a:ext uri="{FF2B5EF4-FFF2-40B4-BE49-F238E27FC236}">
                <a16:creationId xmlns:a16="http://schemas.microsoft.com/office/drawing/2014/main" id="{FFC6E58E-E8E8-0D76-8ED6-DD29338578CB}"/>
              </a:ext>
            </a:extLst>
          </p:cNvPr>
          <p:cNvSpPr>
            <a:spLocks noGrp="1"/>
          </p:cNvSpPr>
          <p:nvPr>
            <p:ph idx="1"/>
          </p:nvPr>
        </p:nvSpPr>
        <p:spPr/>
        <p:txBody>
          <a:bodyPr/>
          <a:lstStyle/>
          <a:p>
            <a:r>
              <a:rPr lang="en-US" dirty="0"/>
              <a:t>Providing guidelines for selecting appropriate design patterns</a:t>
            </a:r>
          </a:p>
          <a:p>
            <a:r>
              <a:rPr lang="en-US" dirty="0"/>
              <a:t>Encouraging critical evaluation of patterns in specific project contexts</a:t>
            </a:r>
          </a:p>
        </p:txBody>
      </p:sp>
    </p:spTree>
    <p:extLst>
      <p:ext uri="{BB962C8B-B14F-4D97-AF65-F5344CB8AC3E}">
        <p14:creationId xmlns:p14="http://schemas.microsoft.com/office/powerpoint/2010/main" val="3439919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5109-3A51-BB5F-51AE-943361310D2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B591F4A-DA0C-1650-E7F7-B900BA05930F}"/>
              </a:ext>
            </a:extLst>
          </p:cNvPr>
          <p:cNvSpPr>
            <a:spLocks noGrp="1"/>
          </p:cNvSpPr>
          <p:nvPr>
            <p:ph idx="1"/>
          </p:nvPr>
        </p:nvSpPr>
        <p:spPr/>
        <p:txBody>
          <a:bodyPr/>
          <a:lstStyle/>
          <a:p>
            <a:r>
              <a:rPr lang="en-US" dirty="0"/>
              <a:t>Recap of the problematic patterns discussed</a:t>
            </a:r>
          </a:p>
          <a:p>
            <a:r>
              <a:rPr lang="en-US" dirty="0"/>
              <a:t>Emphasis on the importance of critical evaluation and context awareness</a:t>
            </a:r>
          </a:p>
          <a:p>
            <a:r>
              <a:rPr lang="en-US" dirty="0"/>
              <a:t>Encouragement for developers to reevaluate design patterns in their projects</a:t>
            </a:r>
          </a:p>
        </p:txBody>
      </p:sp>
    </p:spTree>
    <p:extLst>
      <p:ext uri="{BB962C8B-B14F-4D97-AF65-F5344CB8AC3E}">
        <p14:creationId xmlns:p14="http://schemas.microsoft.com/office/powerpoint/2010/main" val="1261920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1290-152D-9856-9431-FCF8DB7B3042}"/>
              </a:ext>
            </a:extLst>
          </p:cNvPr>
          <p:cNvSpPr txBox="1">
            <a:spLocks/>
          </p:cNvSpPr>
          <p:nvPr/>
        </p:nvSpPr>
        <p:spPr>
          <a:xfrm>
            <a:off x="286265" y="241558"/>
            <a:ext cx="11619470" cy="6975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a:lstStyle>
          <a:p>
            <a:r>
              <a:rPr lang="en-US" dirty="0">
                <a:solidFill>
                  <a:srgbClr val="FEFE00"/>
                </a:solidFill>
              </a:rPr>
              <a:t>Thank You</a:t>
            </a:r>
          </a:p>
        </p:txBody>
      </p:sp>
      <p:pic>
        <p:nvPicPr>
          <p:cNvPr id="3" name="Picture 2">
            <a:extLst>
              <a:ext uri="{FF2B5EF4-FFF2-40B4-BE49-F238E27FC236}">
                <a16:creationId xmlns:a16="http://schemas.microsoft.com/office/drawing/2014/main" id="{B703020B-AC26-D86D-1EAF-869EDD54C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0751" y="0"/>
            <a:ext cx="5141249" cy="6858000"/>
          </a:xfrm>
          <a:prstGeom prst="rect">
            <a:avLst/>
          </a:prstGeom>
        </p:spPr>
      </p:pic>
      <p:sp>
        <p:nvSpPr>
          <p:cNvPr id="4" name="Content Placeholder 2">
            <a:extLst>
              <a:ext uri="{FF2B5EF4-FFF2-40B4-BE49-F238E27FC236}">
                <a16:creationId xmlns:a16="http://schemas.microsoft.com/office/drawing/2014/main" id="{79FD8C10-BBF0-6653-672F-C192567DE635}"/>
              </a:ext>
            </a:extLst>
          </p:cNvPr>
          <p:cNvSpPr txBox="1">
            <a:spLocks/>
          </p:cNvSpPr>
          <p:nvPr/>
        </p:nvSpPr>
        <p:spPr>
          <a:xfrm>
            <a:off x="765175" y="1638152"/>
            <a:ext cx="6177967" cy="35961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rgbClr val="FF9F00"/>
                </a:solidFill>
              </a:rPr>
              <a:t>chadgreen@chadgreen.com</a:t>
            </a:r>
          </a:p>
          <a:p>
            <a:pPr marL="0" indent="0">
              <a:buFont typeface="Arial" panose="020B0604020202020204" pitchFamily="34" charset="0"/>
              <a:buNone/>
            </a:pPr>
            <a:r>
              <a:rPr lang="en-US" sz="4000" dirty="0">
                <a:solidFill>
                  <a:srgbClr val="FF9F00"/>
                </a:solidFill>
              </a:rPr>
              <a:t>TaleLearnCode</a:t>
            </a:r>
          </a:p>
          <a:p>
            <a:pPr marL="0" indent="0">
              <a:buFont typeface="Arial" panose="020B0604020202020204" pitchFamily="34" charset="0"/>
              <a:buNone/>
            </a:pPr>
            <a:r>
              <a:rPr lang="en-US" sz="4000" dirty="0">
                <a:solidFill>
                  <a:srgbClr val="FF9F00"/>
                </a:solidFill>
              </a:rPr>
              <a:t>ChadGreen.com</a:t>
            </a:r>
          </a:p>
          <a:p>
            <a:pPr marL="0" indent="0">
              <a:buFont typeface="Arial" panose="020B0604020202020204" pitchFamily="34" charset="0"/>
              <a:buNone/>
            </a:pPr>
            <a:r>
              <a:rPr lang="en-US" sz="4000" dirty="0" err="1">
                <a:solidFill>
                  <a:srgbClr val="FF9F00"/>
                </a:solidFill>
              </a:rPr>
              <a:t>ChadGreen</a:t>
            </a:r>
            <a:r>
              <a:rPr lang="en-US" sz="4000" dirty="0">
                <a:solidFill>
                  <a:srgbClr val="FF9F00"/>
                </a:solidFill>
              </a:rPr>
              <a:t> &amp; TaleLearnCode</a:t>
            </a:r>
          </a:p>
          <a:p>
            <a:pPr marL="0" indent="0">
              <a:buFont typeface="Arial" panose="020B0604020202020204" pitchFamily="34" charset="0"/>
              <a:buNone/>
            </a:pPr>
            <a:r>
              <a:rPr lang="en-US" sz="4000" dirty="0" err="1">
                <a:solidFill>
                  <a:srgbClr val="FF9F00"/>
                </a:solidFill>
              </a:rPr>
              <a:t>ChadwickEGreen</a:t>
            </a:r>
            <a:endParaRPr lang="en-US" sz="4000" dirty="0">
              <a:solidFill>
                <a:srgbClr val="FF9F00"/>
              </a:solidFill>
            </a:endParaRPr>
          </a:p>
        </p:txBody>
      </p:sp>
      <p:pic>
        <p:nvPicPr>
          <p:cNvPr id="5" name="Picture 4">
            <a:extLst>
              <a:ext uri="{FF2B5EF4-FFF2-40B4-BE49-F238E27FC236}">
                <a16:creationId xmlns:a16="http://schemas.microsoft.com/office/drawing/2014/main" id="{1B202CBD-C150-AA70-BD46-E205EA758793}"/>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75197" y="1776928"/>
            <a:ext cx="489978" cy="450483"/>
          </a:xfrm>
          <a:prstGeom prst="rect">
            <a:avLst/>
          </a:prstGeom>
        </p:spPr>
      </p:pic>
      <p:pic>
        <p:nvPicPr>
          <p:cNvPr id="6" name="Picture 5">
            <a:extLst>
              <a:ext uri="{FF2B5EF4-FFF2-40B4-BE49-F238E27FC236}">
                <a16:creationId xmlns:a16="http://schemas.microsoft.com/office/drawing/2014/main" id="{4985D3AA-A066-8552-4DC5-D07713A30779}"/>
              </a:ext>
            </a:extLst>
          </p:cNvPr>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2435063"/>
            <a:ext cx="480742" cy="480742"/>
          </a:xfrm>
          <a:prstGeom prst="rect">
            <a:avLst/>
          </a:prstGeom>
        </p:spPr>
      </p:pic>
      <p:pic>
        <p:nvPicPr>
          <p:cNvPr id="7" name="Picture 6">
            <a:extLst>
              <a:ext uri="{FF2B5EF4-FFF2-40B4-BE49-F238E27FC236}">
                <a16:creationId xmlns:a16="http://schemas.microsoft.com/office/drawing/2014/main" id="{C79266C0-A676-6D29-FE6F-B5DA169D5CAE}"/>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3011339"/>
            <a:ext cx="489978" cy="489978"/>
          </a:xfrm>
          <a:prstGeom prst="rect">
            <a:avLst/>
          </a:prstGeom>
          <a:ln>
            <a:noFill/>
          </a:ln>
        </p:spPr>
      </p:pic>
      <p:pic>
        <p:nvPicPr>
          <p:cNvPr id="8" name="Picture 7">
            <a:extLst>
              <a:ext uri="{FF2B5EF4-FFF2-40B4-BE49-F238E27FC236}">
                <a16:creationId xmlns:a16="http://schemas.microsoft.com/office/drawing/2014/main" id="{AA9718DA-9C5A-10CC-BCD3-AFF67619204F}"/>
              </a:ext>
            </a:extLst>
          </p:cNvPr>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61786" y="3727672"/>
            <a:ext cx="480742" cy="480742"/>
          </a:xfrm>
          <a:prstGeom prst="rect">
            <a:avLst/>
          </a:prstGeom>
        </p:spPr>
      </p:pic>
      <p:pic>
        <p:nvPicPr>
          <p:cNvPr id="9" name="Picture 8">
            <a:extLst>
              <a:ext uri="{FF2B5EF4-FFF2-40B4-BE49-F238E27FC236}">
                <a16:creationId xmlns:a16="http://schemas.microsoft.com/office/drawing/2014/main" id="{BB4FDA20-F69A-56A8-FCFA-AE67D384C719}"/>
              </a:ext>
            </a:extLst>
          </p:cNvPr>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74711" y="4365792"/>
            <a:ext cx="445655" cy="445655"/>
          </a:xfrm>
          <a:prstGeom prst="rect">
            <a:avLst/>
          </a:prstGeom>
        </p:spPr>
      </p:pic>
      <p:pic>
        <p:nvPicPr>
          <p:cNvPr id="10" name="Picture 9">
            <a:extLst>
              <a:ext uri="{FF2B5EF4-FFF2-40B4-BE49-F238E27FC236}">
                <a16:creationId xmlns:a16="http://schemas.microsoft.com/office/drawing/2014/main" id="{D676DD6D-44CE-3CD8-D573-239CBC4AB4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151" y="5171221"/>
            <a:ext cx="2289053" cy="923546"/>
          </a:xfrm>
          <a:prstGeom prst="rect">
            <a:avLst/>
          </a:prstGeom>
        </p:spPr>
      </p:pic>
    </p:spTree>
    <p:extLst>
      <p:ext uri="{BB962C8B-B14F-4D97-AF65-F5344CB8AC3E}">
        <p14:creationId xmlns:p14="http://schemas.microsoft.com/office/powerpoint/2010/main" val="1834237874"/>
      </p:ext>
    </p:extLst>
  </p:cSld>
  <p:clrMapOvr>
    <a:masterClrMapping/>
  </p:clrMapOvr>
</p:sld>
</file>

<file path=ppt/theme/theme1.xml><?xml version="1.0" encoding="utf-8"?>
<a:theme xmlns:a="http://schemas.openxmlformats.org/drawingml/2006/main" name="TaleLearnCo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Slide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3608</Words>
  <Application>Microsoft Office PowerPoint</Application>
  <PresentationFormat>Widescreen</PresentationFormat>
  <Paragraphs>423</Paragraphs>
  <Slides>59</Slides>
  <Notes>50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59</vt:i4>
      </vt:variant>
    </vt:vector>
  </HeadingPairs>
  <TitlesOfParts>
    <vt:vector size="66" baseType="lpstr">
      <vt:lpstr>Arial</vt:lpstr>
      <vt:lpstr>Calibri</vt:lpstr>
      <vt:lpstr>Kamerik205 8</vt:lpstr>
      <vt:lpstr>Montserrat</vt:lpstr>
      <vt:lpstr>Söhne</vt:lpstr>
      <vt:lpstr>TaleLearnCode</vt:lpstr>
      <vt:lpstr>Title Slide Design</vt:lpstr>
      <vt:lpstr>PowerPoint Presentation</vt:lpstr>
      <vt:lpstr>PowerPoint Presentation</vt:lpstr>
      <vt:lpstr>Introduction</vt:lpstr>
      <vt:lpstr>The Power of Design Patterns</vt:lpstr>
      <vt:lpstr>The Power of Design Patterns</vt:lpstr>
      <vt:lpstr>Significance of Design Patterns</vt:lpstr>
      <vt:lpstr>Significance of Design Patterns</vt:lpstr>
      <vt:lpstr>Significance of Design Patterns</vt:lpstr>
      <vt:lpstr>Significance of Design Patterns</vt:lpstr>
      <vt:lpstr>Significance of Design Patterns</vt:lpstr>
      <vt:lpstr>Significance of Design Patterns</vt:lpstr>
      <vt:lpstr>Significance of Design Patterns</vt:lpstr>
      <vt:lpstr>Significance of Design Patterns</vt:lpstr>
      <vt:lpstr>Significance of Design Patterns</vt:lpstr>
      <vt:lpstr>Gang of Four</vt:lpstr>
      <vt:lpstr>Main Types of Design Patterns</vt:lpstr>
      <vt:lpstr>Main Types of Design Patterns</vt:lpstr>
      <vt:lpstr>Main Types of Design Patterns</vt:lpstr>
      <vt:lpstr>Main Types of Design Patterns</vt:lpstr>
      <vt:lpstr>Not All Patterns Are Created Equal</vt:lpstr>
      <vt:lpstr>Not all patterns are created equal</vt:lpstr>
      <vt:lpstr>Not all patterns are created equal</vt:lpstr>
      <vt:lpstr>Not all patterns are created equal</vt:lpstr>
      <vt:lpstr>Not all patterns are created equal</vt:lpstr>
      <vt:lpstr>The Problematic Patterns</vt:lpstr>
      <vt:lpstr>Not talking about anti-patterns</vt:lpstr>
      <vt:lpstr>The Problematic Patterns</vt:lpstr>
      <vt:lpstr>Singleton Pattern</vt:lpstr>
      <vt:lpstr>Singleton Pattern</vt:lpstr>
      <vt:lpstr>Singleton Pattern</vt:lpstr>
      <vt:lpstr>Singleton Pattern</vt:lpstr>
      <vt:lpstr>Singleton Pattern</vt:lpstr>
      <vt:lpstr>Singleton Pattern</vt:lpstr>
      <vt:lpstr>Singleton Pattern</vt:lpstr>
      <vt:lpstr>PowerPoint Presentation</vt:lpstr>
      <vt:lpstr>Singleton Pattern: The Good</vt:lpstr>
      <vt:lpstr>Singleton Pattern: The Good</vt:lpstr>
      <vt:lpstr>Singleton Pattern: The Good</vt:lpstr>
      <vt:lpstr>Singleton Pattern: The Good</vt:lpstr>
      <vt:lpstr>Singleton Pattern: The Good</vt:lpstr>
      <vt:lpstr>Singleton Pattern: The Good</vt:lpstr>
      <vt:lpstr>Singleton Pattern: The Good</vt:lpstr>
      <vt:lpstr>Singleton Pattern: The Bad</vt:lpstr>
      <vt:lpstr>Singleton Pattern: The Bad</vt:lpstr>
      <vt:lpstr>Singleton Pattern: The Bad</vt:lpstr>
      <vt:lpstr>Singleton Pattern: The Bad</vt:lpstr>
      <vt:lpstr>Singleton Pattern: The Bad</vt:lpstr>
      <vt:lpstr>Singleton Pattern: The Bad</vt:lpstr>
      <vt:lpstr>Singleton Pattern: The Bad</vt:lpstr>
      <vt:lpstr>Singleton Pattern: The Bad</vt:lpstr>
      <vt:lpstr>Pattern 2 – The Observer Pattern</vt:lpstr>
      <vt:lpstr>Pattern 3 – The Factory Pattern</vt:lpstr>
      <vt:lpstr>Pattern 4 – Abstract Factory Pattern</vt:lpstr>
      <vt:lpstr>Template Method Pattern</vt:lpstr>
      <vt:lpstr>Case Studies</vt:lpstr>
      <vt:lpstr>The Importance of Context</vt:lpstr>
      <vt:lpstr>Guidelines for Pattern Selection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Chad Green</dc:creator>
  <cp:lastModifiedBy>Chad Green</cp:lastModifiedBy>
  <cp:revision>8</cp:revision>
  <dcterms:created xsi:type="dcterms:W3CDTF">2023-11-19T00:00:57Z</dcterms:created>
  <dcterms:modified xsi:type="dcterms:W3CDTF">2023-11-30T02:28:16Z</dcterms:modified>
</cp:coreProperties>
</file>